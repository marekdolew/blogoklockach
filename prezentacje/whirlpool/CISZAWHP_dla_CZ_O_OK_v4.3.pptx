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87" r:id="rId3"/>
    <p:sldId id="271" r:id="rId4"/>
    <p:sldId id="291" r:id="rId5"/>
    <p:sldId id="276" r:id="rId6"/>
    <p:sldId id="277" r:id="rId7"/>
    <p:sldId id="306" r:id="rId8"/>
    <p:sldId id="288" r:id="rId9"/>
    <p:sldId id="307" r:id="rId10"/>
    <p:sldId id="281" r:id="rId11"/>
    <p:sldId id="308" r:id="rId12"/>
    <p:sldId id="309" r:id="rId13"/>
    <p:sldId id="284" r:id="rId14"/>
    <p:sldId id="296" r:id="rId15"/>
    <p:sldId id="297" r:id="rId16"/>
    <p:sldId id="298" r:id="rId17"/>
    <p:sldId id="299" r:id="rId18"/>
    <p:sldId id="301" r:id="rId19"/>
    <p:sldId id="304" r:id="rId20"/>
    <p:sldId id="303" r:id="rId21"/>
    <p:sldId id="302" r:id="rId22"/>
    <p:sldId id="300" r:id="rId23"/>
    <p:sldId id="311" r:id="rId24"/>
    <p:sldId id="312" r:id="rId31"/>
    <p:sldId id="310" r:id="rId25"/>
    <p:sldId id="290" r:id="rId2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AEA"/>
    <a:srgbClr val="F3F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93"/>
    <p:restoredTop sz="94775"/>
  </p:normalViewPr>
  <p:slideViewPr>
    <p:cSldViewPr snapToGrid="0">
      <p:cViewPr varScale="1">
        <p:scale>
          <a:sx n="125" d="100"/>
          <a:sy n="125" d="100"/>
        </p:scale>
        <p:origin x="1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  <Relationship Id="rId31" Type="http://schemas.openxmlformats.org/officeDocument/2006/relationships/slide" Target="slides/slide26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Podział budżetu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C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03-9347-93FE-5B8E0FF39E09}"/>
              </c:ext>
            </c:extLst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03-9347-93FE-5B8E0FF39E09}"/>
              </c:ext>
            </c:extLst>
          </c:dPt>
          <c:dPt>
            <c:idx val="2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03-9347-93FE-5B8E0FF39E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03-9347-93FE-5B8E0FF39E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03-9347-93FE-5B8E0FF39E0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03-9347-93FE-5B8E0FF39E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Digital 300 tys. zł</c:v>
                </c:pt>
                <c:pt idx="1">
                  <c:v>Influencerzy 150 tys. zł</c:v>
                </c:pt>
                <c:pt idx="2">
                  <c:v>PR 50 tys. zł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300000</c:v>
                </c:pt>
                <c:pt idx="1">
                  <c:v>150000</c:v>
                </c:pt>
                <c:pt idx="2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03-9347-93FE-5B8E0FF39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D4D4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8BF4BE-36A0-717A-038B-1DD96B08F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03050-4158-107D-3533-987CE5FEE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38BF115-DCC7-0E37-5B88-5945CB735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DA23364-412C-C671-DFE2-00972C58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D70625C-ED4F-7DB1-5BFE-66357476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921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37D7DF-A75E-421C-9A28-66D6F079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8D7ADC-5BEE-0DF4-4EA8-1374C6CC5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9F11C5-B8B3-12FD-1C2B-6DEC8293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6D60795-EF52-041C-1E5C-58D697EB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C23D9F9-16E9-315E-A19B-8A69B8C2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930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4FC0D2-4AA0-0D44-AF7C-FFF70233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4F43CA-03F7-A92A-175F-E8079F9C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7916A5B-D7E2-442B-5B13-8AE0D848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B70DED-2B93-55D2-182E-01F638C7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BBB4F5A-9B7D-2394-23BC-A2A9B873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274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C5F16E-4DA4-D70D-4362-A3354C56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B8025C-97F0-7881-EE3C-0D14CD05C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63B17B1-1214-77A0-5801-FDA99BD53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342FDD-B0EE-5243-26FB-CB32D856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548024E-C21D-5139-119C-D8B0A7D5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631070B-DA15-3EFA-C540-1B4E32DA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957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44A5E9-92F0-DA5F-E4C4-B517E918C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CFEC33B-41F3-4CBE-151C-8989E7973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20A7892-E462-8743-5556-D2DA56840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3943EA2-1A3B-FFEA-D2D7-76A2C7F68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78907B7-85AD-AF53-1AA7-2092EC959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B8307C5-E27F-7395-4911-F83946B0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0FA9488-38B2-AA6D-9808-2A4FADEC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24FD9D0-88D1-573E-0676-33E36EC3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762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9E8337-6EF8-E3B4-F16F-9EC9AD10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A8022D5-8E02-57E2-DF89-F497788C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75076BA-112A-2930-319F-888F23FA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5C7AEA7-BFCB-58CB-2CFF-54B4A42E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517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34ED9A41-59B9-1B30-AA26-D703DE70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2612B5C-C14A-A7C8-16D3-6945883B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6701D30-A1A2-5A28-393F-DE2AFF08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148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DE6A7B-904F-36AB-C21C-23BA3797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F16EF58-2213-6A17-1002-731934613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2D2312B-31D4-D36C-4204-C12C5F95D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65E4FA5-93B0-0BE0-DBB0-42CC0867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A5DAAE9-B02C-5B01-9054-B59E9BC9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C59D84F-E980-8FBD-5B74-B9140C1F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684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A1173F-68B0-5E06-106A-C8A50AB3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E572FF0-5E3C-99D7-CD5A-08C86B965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7DB5AE0-B8B8-4D05-9136-CD7E57275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EADCED5-F1F2-F3E3-455E-F5246727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A4C96B4-80C3-E680-874C-408C2045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551FEA5-9615-4187-22EE-941FDD9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671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DC2A20-267C-FCBA-4171-F0C45BF0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32388BC-D460-05F3-7D6F-39B6E7EEE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3CC8728-377C-2C09-A2CC-664A5614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17FD697-61C9-27BD-DF7B-80008D43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1D5FAA2-22A6-CB6B-E208-7C28707F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903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277F275-9C93-D72C-6B4A-874BD61CE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7623DCA-0669-CEE8-EC3E-CA5D066C2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C3C6F0-024F-5E4D-C061-2BE3D9FC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A9E24D2-0326-DF79-796D-BDF6D8FA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20A3F26-4AFE-ECFA-3392-E2064143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896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BC23B7B-ACC4-A88A-02FE-3D9F5004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6C845FF-AF84-C05C-1480-1D539BE6B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5D31DFF-B134-8A9D-03CD-0D77C2CEF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6A9464D-1291-90FC-7DE9-8178C008C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157CD6E-BDEE-3F51-A527-FF3ABD08A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08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3FA8-B128-B100-D847-13EC034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D65D8C2-E6F6-127D-B756-C730FFF99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4B55F7-9306-2F0A-A16C-604762663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0043"/>
            <a:ext cx="9144000" cy="2387600"/>
          </a:xfrm>
        </p:spPr>
        <p:txBody>
          <a:bodyPr/>
          <a:lstStyle/>
          <a:p>
            <a:r>
              <a:rPr lang="en-PL" b="1" dirty="0">
                <a:solidFill>
                  <a:srgbClr val="FFC000"/>
                </a:solidFill>
              </a:rPr>
              <a:t>CISZA</a:t>
            </a:r>
            <a:r>
              <a:rPr lang="en-PL" b="1" dirty="0">
                <a:solidFill>
                  <a:schemeClr val="bg1"/>
                </a:solidFill>
              </a:rPr>
              <a:t>, KTÓRA SPRZEDAJE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9066F80-A698-14E2-D975-264F6A8F4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2165" y="6095999"/>
            <a:ext cx="9144000" cy="578223"/>
          </a:xfrm>
        </p:spPr>
        <p:txBody>
          <a:bodyPr>
            <a:normAutofit/>
          </a:bodyPr>
          <a:lstStyle/>
          <a:p>
            <a:pPr algn="r"/>
            <a:r>
              <a:rPr lang="en-PL" sz="1800" dirty="0">
                <a:solidFill>
                  <a:schemeClr val="bg1"/>
                </a:solidFill>
              </a:rPr>
              <a:t>Warszawa, 21.05.2026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1BE533AC-5325-B8A7-F486-BADB224E09F7}"/>
              </a:ext>
            </a:extLst>
          </p:cNvPr>
          <p:cNvSpPr/>
          <p:nvPr/>
        </p:nvSpPr>
        <p:spPr>
          <a:xfrm>
            <a:off x="1795092" y="3997643"/>
            <a:ext cx="2009652" cy="634627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78E39EE-D1A9-96AB-5219-B5BC7973EA6F}"/>
              </a:ext>
            </a:extLst>
          </p:cNvPr>
          <p:cNvSpPr/>
          <p:nvPr/>
        </p:nvSpPr>
        <p:spPr>
          <a:xfrm>
            <a:off x="1795092" y="3997643"/>
            <a:ext cx="2009652" cy="63462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 dBA</a:t>
            </a:r>
            <a:endParaRPr lang="en-US" sz="20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E4433F54-4E31-A631-6B3F-2A204D21768A}"/>
              </a:ext>
            </a:extLst>
          </p:cNvPr>
          <p:cNvSpPr/>
          <p:nvPr/>
        </p:nvSpPr>
        <p:spPr>
          <a:xfrm>
            <a:off x="1795092" y="616565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Whirlpool Phoenix Black Inox</a:t>
            </a:r>
            <a:endParaRPr lang="en-US" sz="14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0C19E2F-1C35-5E2B-521B-592ED6C50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22"/>
            <a:ext cx="1405914" cy="1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2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029B-6687-98C2-8F64-954BF1695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B86D4FA7-F943-D572-AD17-E7C32D08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383EC234-589E-F045-A033-B5BA0CF13D47}"/>
              </a:ext>
            </a:extLst>
          </p:cNvPr>
          <p:cNvSpPr/>
          <p:nvPr/>
        </p:nvSpPr>
        <p:spPr>
          <a:xfrm>
            <a:off x="457200" y="27325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D0C1C437-3F3A-62E5-8F2D-174F37DF6AF8}"/>
              </a:ext>
            </a:extLst>
          </p:cNvPr>
          <p:cNvSpPr/>
          <p:nvPr/>
        </p:nvSpPr>
        <p:spPr>
          <a:xfrm>
            <a:off x="457200" y="304348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CISZY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036E35A0-ACA3-19A1-21B8-6F89C3D2A323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C2773E1-C705-C80F-DE07-2EFEDC4600A6}"/>
              </a:ext>
            </a:extLst>
          </p:cNvPr>
          <p:cNvSpPr/>
          <p:nvPr/>
        </p:nvSpPr>
        <p:spPr>
          <a:xfrm>
            <a:off x="457200" y="44150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Centrum </a:t>
            </a:r>
            <a:r>
              <a:rPr lang="en-US" sz="1300" i="1" dirty="0" err="1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Handlowe</a:t>
            </a:r>
            <a:r>
              <a:rPr lang="en-US" sz="13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Arkadia – Q4 2026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5356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48E64-95B0-C8D5-827B-7627452B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8F9872-8697-056F-52D0-7D6A16BAF9D6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3E8645D8-8E06-CA7D-D523-CE46F4CE6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AC3A3D-C8D5-00E5-600F-6B32A13C42EE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C76AF1-0651-54B6-B858-A4AAF44A4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2EBC235D-C9EB-979D-2C6B-91713C8DE02D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47095FD6-7FEC-4625-91BE-5D38BA918000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56BC76-CC14-004D-B873-E8822E5A7E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07" t="17608" r="21235" b="25114"/>
          <a:stretch>
            <a:fillRect/>
          </a:stretch>
        </p:blipFill>
        <p:spPr>
          <a:xfrm>
            <a:off x="6910964" y="1672418"/>
            <a:ext cx="5081059" cy="47665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E7CD82-CF31-2FBA-5C24-561F08CE06B4}"/>
              </a:ext>
            </a:extLst>
          </p:cNvPr>
          <p:cNvSpPr/>
          <p:nvPr/>
        </p:nvSpPr>
        <p:spPr>
          <a:xfrm>
            <a:off x="6179820" y="1470660"/>
            <a:ext cx="632460" cy="4480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A0887E-8A72-408F-D37C-1828CFE4A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506" y="1672417"/>
            <a:ext cx="4766559" cy="476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7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C942-279D-1EFE-A4CB-63118CBB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7075047-AF87-BA9D-BACF-9F8FF03812FE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9563A44-EFB1-1E6C-BD6F-540828F4B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F1FC444-D81E-1964-7E76-FAE9782F92D3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C44160-4B5B-7AEA-142E-3457EA386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BD172D6C-1B67-AFC5-98FA-11F6CF998A0D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C69B46D-6607-7A6C-530A-18093F91E1ED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627CE893-CEE1-680C-0F12-B24167A185AE}"/>
              </a:ext>
            </a:extLst>
          </p:cNvPr>
          <p:cNvSpPr/>
          <p:nvPr/>
        </p:nvSpPr>
        <p:spPr>
          <a:xfrm>
            <a:off x="1616506" y="161480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GŁÓWNY PUNKT:</a:t>
            </a:r>
            <a:endParaRPr lang="en-US" sz="12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4BF8BA54-054E-2485-5B08-B6C124D86E6C}"/>
              </a:ext>
            </a:extLst>
          </p:cNvPr>
          <p:cNvSpPr/>
          <p:nvPr/>
        </p:nvSpPr>
        <p:spPr>
          <a:xfrm>
            <a:off x="2020944" y="2053505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0E3CF53D-B5A0-772B-7F88-81B6AE9C4AD7}"/>
              </a:ext>
            </a:extLst>
          </p:cNvPr>
          <p:cNvSpPr/>
          <p:nvPr/>
        </p:nvSpPr>
        <p:spPr>
          <a:xfrm>
            <a:off x="2185536" y="1998641"/>
            <a:ext cx="553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Dźwiękoszczelna budka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stacjonarna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 tyg. Arkadia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5D724669-36AB-4990-9576-37DA9BAF58E5}"/>
              </a:ext>
            </a:extLst>
          </p:cNvPr>
          <p:cNvSpPr/>
          <p:nvPr/>
        </p:nvSpPr>
        <p:spPr>
          <a:xfrm>
            <a:off x="2020944" y="2547070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12F1636A-36E4-B878-A71A-C34CCDB07F4E}"/>
              </a:ext>
            </a:extLst>
          </p:cNvPr>
          <p:cNvSpPr/>
          <p:nvPr/>
        </p:nvSpPr>
        <p:spPr>
          <a:xfrm>
            <a:off x="2185535" y="2492206"/>
            <a:ext cx="64224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Whirlpool,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fotel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TV,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miernik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dB, konsola 4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hałasów</a:t>
            </a:r>
            <a:endParaRPr lang="en-US" sz="2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E1165CA-52A0-86A5-FE6C-A391413DD2A3}"/>
              </a:ext>
            </a:extLst>
          </p:cNvPr>
          <p:cNvSpPr/>
          <p:nvPr/>
        </p:nvSpPr>
        <p:spPr>
          <a:xfrm>
            <a:off x="1616506" y="33910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</a:t>
            </a: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88ECF2E-07C3-4962-D912-1EFD2DD9ABCF}"/>
              </a:ext>
            </a:extLst>
          </p:cNvPr>
          <p:cNvSpPr/>
          <p:nvPr/>
        </p:nvSpPr>
        <p:spPr>
          <a:xfrm>
            <a:off x="2185535" y="3732848"/>
            <a:ext cx="9134106" cy="204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Wejdź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świata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wraz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lodówką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Whirlpool. </a:t>
            </a:r>
          </a:p>
          <a:p>
            <a:pPr marL="0" indent="0">
              <a:buNone/>
            </a:pPr>
            <a:endParaRPr lang="en-US" sz="2000" dirty="0">
              <a:solidFill>
                <a:srgbClr val="4D4D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Doświadcz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pomiędzy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hałasem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dzień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Cię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otacza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komfortem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29 dBA.</a:t>
            </a:r>
          </a:p>
          <a:p>
            <a:pPr marL="0" indent="0">
              <a:buNone/>
            </a:pPr>
            <a:endParaRPr lang="en-US" sz="2000" dirty="0">
              <a:solidFill>
                <a:srgbClr val="4D4D4D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Zadbaj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swój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komfort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każdego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dnia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1C0FD013-CDD5-028F-6226-6C9A312B165C}"/>
              </a:ext>
            </a:extLst>
          </p:cNvPr>
          <p:cNvSpPr/>
          <p:nvPr/>
        </p:nvSpPr>
        <p:spPr>
          <a:xfrm>
            <a:off x="2020944" y="3829753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12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9C5B-E644-7807-BFFD-1FB1F192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009AA1B-ED8A-7784-C8CD-498347039496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2C955EB0-D84C-6F41-0B6F-C8DD9D194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26EF5F-4094-8F0D-45BD-C0BB01B538A1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9061E0-0EA1-B2C4-AC26-BE63A031A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90229612-F56A-D819-E735-E841D6862AE0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8B2B17D6-1B4C-7A0C-D813-D934B1378ED5}"/>
              </a:ext>
            </a:extLst>
          </p:cNvPr>
          <p:cNvSpPr/>
          <p:nvPr/>
        </p:nvSpPr>
        <p:spPr>
          <a:xfrm>
            <a:off x="1616506" y="161480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WIDZI KLIENT:</a:t>
            </a:r>
            <a:endParaRPr lang="en-US" sz="12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5BAB6CE6-4908-A147-0412-932C9EF511D2}"/>
              </a:ext>
            </a:extLst>
          </p:cNvPr>
          <p:cNvSpPr/>
          <p:nvPr/>
        </p:nvSpPr>
        <p:spPr>
          <a:xfrm>
            <a:off x="2020944" y="2053505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5F9169B-ABDF-296D-E1B5-726DFAC0D87B}"/>
              </a:ext>
            </a:extLst>
          </p:cNvPr>
          <p:cNvSpPr/>
          <p:nvPr/>
        </p:nvSpPr>
        <p:spPr>
          <a:xfrm>
            <a:off x="2185536" y="1998641"/>
            <a:ext cx="798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Lodówka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Whirlpool Phoenix Black Inox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główna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bohaterka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instalacji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251A9038-1C61-1912-83AE-2636A3AFE405}"/>
              </a:ext>
            </a:extLst>
          </p:cNvPr>
          <p:cNvSpPr/>
          <p:nvPr/>
        </p:nvSpPr>
        <p:spPr>
          <a:xfrm>
            <a:off x="2020944" y="2547070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052457D7-1DDB-5CF5-787C-376006AAED1E}"/>
              </a:ext>
            </a:extLst>
          </p:cNvPr>
          <p:cNvSpPr/>
          <p:nvPr/>
        </p:nvSpPr>
        <p:spPr>
          <a:xfrm>
            <a:off x="2185535" y="2492206"/>
            <a:ext cx="8513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Wygodny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fotel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designerski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stolik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kawowy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lampka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regał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książkami</a:t>
            </a:r>
            <a:endParaRPr lang="en-US" sz="2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88B982B5-3E0A-91F1-31F6-D3C6CD3C24D0}"/>
              </a:ext>
            </a:extLst>
          </p:cNvPr>
          <p:cNvSpPr/>
          <p:nvPr/>
        </p:nvSpPr>
        <p:spPr>
          <a:xfrm>
            <a:off x="2185534" y="2985770"/>
            <a:ext cx="8976451" cy="73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Duże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dwa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TV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widoczne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obu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stron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siedząc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środku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przechodząc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obok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 </a:t>
            </a:r>
            <a:br>
              <a:rPr lang="en-GB" sz="2000" dirty="0">
                <a:solidFill>
                  <a:srgbClr val="4D4D4D"/>
                </a:solidFill>
                <a:latin typeface="Calibri"/>
              </a:rPr>
            </a:br>
            <a:r>
              <a:rPr lang="en-GB" sz="2000" dirty="0">
                <a:solidFill>
                  <a:srgbClr val="4D4D4D"/>
                </a:solidFill>
                <a:latin typeface="Calibri"/>
              </a:rPr>
              <a:t>Na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nich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wyświetlamy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relaksujący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lasu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,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słychać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szum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(29dBA)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kołyszących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się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liści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</a:t>
            </a:r>
            <a:endParaRPr lang="en-US" sz="2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29656E3-8E48-D7C1-0E41-FA45895ADF30}"/>
              </a:ext>
            </a:extLst>
          </p:cNvPr>
          <p:cNvSpPr/>
          <p:nvPr/>
        </p:nvSpPr>
        <p:spPr>
          <a:xfrm>
            <a:off x="2185535" y="3775313"/>
            <a:ext cx="9302272" cy="63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Konsola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4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przyciski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odkurzacz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75dBA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krzyczące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dzieci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65dBA · TV 60dB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ulica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80dBA. </a:t>
            </a:r>
          </a:p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Sprawdź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ile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decybeli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Cię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otacza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porównaj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ciszą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lodówki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WHP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E271E47-6F38-6250-27CB-FD60246DBF65}"/>
              </a:ext>
            </a:extLst>
          </p:cNvPr>
          <p:cNvSpPr/>
          <p:nvPr/>
        </p:nvSpPr>
        <p:spPr>
          <a:xfrm>
            <a:off x="2185535" y="5549921"/>
            <a:ext cx="930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Szum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29 dBA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tylko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Whirlpool Phoenix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EA76B14A-EC89-4420-B4F1-6D3F1833905E}"/>
              </a:ext>
            </a:extLst>
          </p:cNvPr>
          <p:cNvSpPr/>
          <p:nvPr/>
        </p:nvSpPr>
        <p:spPr>
          <a:xfrm>
            <a:off x="2020944" y="305156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82CC7AD-6063-4470-C81F-D11A9FE2BA1B}"/>
              </a:ext>
            </a:extLst>
          </p:cNvPr>
          <p:cNvSpPr/>
          <p:nvPr/>
        </p:nvSpPr>
        <p:spPr>
          <a:xfrm>
            <a:off x="2020944" y="3818822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DA0FA31-F0D5-4943-91DB-DA8C8C6D062F}"/>
              </a:ext>
            </a:extLst>
          </p:cNvPr>
          <p:cNvSpPr/>
          <p:nvPr/>
        </p:nvSpPr>
        <p:spPr>
          <a:xfrm>
            <a:off x="2185535" y="4662617"/>
            <a:ext cx="9302272" cy="63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>
                <a:solidFill>
                  <a:srgbClr val="4D4D4D"/>
                </a:solidFill>
                <a:latin typeface="Calibri"/>
              </a:rPr>
              <a:t>Miernik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decybeli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widoczny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zewnątrz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mierzący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aktualny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hałas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na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zewnątrz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budki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jak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 </a:t>
            </a:r>
            <a:endParaRPr lang="en-US" sz="20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0392DA90-1D81-E6C8-6F69-686541C8D48B}"/>
              </a:ext>
            </a:extLst>
          </p:cNvPr>
          <p:cNvSpPr/>
          <p:nvPr/>
        </p:nvSpPr>
        <p:spPr>
          <a:xfrm>
            <a:off x="2020944" y="4733222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1C00DB1D-988C-73A5-3749-5EDF7622A39E}"/>
              </a:ext>
            </a:extLst>
          </p:cNvPr>
          <p:cNvSpPr/>
          <p:nvPr/>
        </p:nvSpPr>
        <p:spPr>
          <a:xfrm>
            <a:off x="2020944" y="5616091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8A07EC7-C243-DBD0-35CE-C9454533140F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631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70B0-88F2-7FF5-220D-898164DA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9C36E880-6B39-6D53-0AF7-630103076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0"/>
            <a:ext cx="6502400" cy="65024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FA8D46A-5B33-02C8-F787-F2E3ED6E6312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718B205A-D49A-BDE5-B48E-DD40856E4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B9B90E-D3DA-3DB1-60A3-B7C04E719C1B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CABADD-04AA-5EC3-DA3F-DEE9EB6CF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1039E853-C1C3-7A46-ADAB-9FE2425D4562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16ECB5-2316-378E-9E7A-D643DCDE736F}"/>
              </a:ext>
            </a:extLst>
          </p:cNvPr>
          <p:cNvSpPr/>
          <p:nvPr/>
        </p:nvSpPr>
        <p:spPr>
          <a:xfrm>
            <a:off x="1616506" y="1408176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5339F4-BB69-624C-56F4-445137D59AB9}"/>
              </a:ext>
            </a:extLst>
          </p:cNvPr>
          <p:cNvSpPr txBox="1"/>
          <p:nvPr/>
        </p:nvSpPr>
        <p:spPr>
          <a:xfrm>
            <a:off x="1689657" y="1554480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0A500"/>
                </a:solidFill>
                <a:latin typeface="Arial Black"/>
              </a:rPr>
              <a:t>2 tyg.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B90F50-6994-093C-4CF6-0442A31F2780}"/>
              </a:ext>
            </a:extLst>
          </p:cNvPr>
          <p:cNvSpPr txBox="1"/>
          <p:nvPr/>
        </p:nvSpPr>
        <p:spPr>
          <a:xfrm>
            <a:off x="1689657" y="2249424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ekspozycja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
Arkadia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B8C145-654C-C370-42DC-84D447010178}"/>
              </a:ext>
            </a:extLst>
          </p:cNvPr>
          <p:cNvSpPr/>
          <p:nvPr/>
        </p:nvSpPr>
        <p:spPr>
          <a:xfrm>
            <a:off x="1616506" y="4966137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FB311B-9C8E-B751-FE1F-EF56992898CE}"/>
              </a:ext>
            </a:extLst>
          </p:cNvPr>
          <p:cNvSpPr txBox="1"/>
          <p:nvPr/>
        </p:nvSpPr>
        <p:spPr>
          <a:xfrm>
            <a:off x="1689657" y="5112441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A500"/>
                </a:solidFill>
                <a:latin typeface="Arial Black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0C9458-AA4E-6ED2-55FA-C174B0AD456B}"/>
              </a:ext>
            </a:extLst>
          </p:cNvPr>
          <p:cNvSpPr txBox="1"/>
          <p:nvPr/>
        </p:nvSpPr>
        <p:spPr>
          <a:xfrm>
            <a:off x="1689657" y="5807385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hostessy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
</a:t>
            </a: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12 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h / </a:t>
            </a:r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dzień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ECEF7F-B846-E8E4-CDD3-E64771F49189}"/>
              </a:ext>
            </a:extLst>
          </p:cNvPr>
          <p:cNvSpPr/>
          <p:nvPr/>
        </p:nvSpPr>
        <p:spPr>
          <a:xfrm>
            <a:off x="1616506" y="3173913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EB9799-9A62-F34D-BCC4-F0CB272C9E84}"/>
              </a:ext>
            </a:extLst>
          </p:cNvPr>
          <p:cNvSpPr txBox="1"/>
          <p:nvPr/>
        </p:nvSpPr>
        <p:spPr>
          <a:xfrm>
            <a:off x="1689657" y="3320217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2x2 m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EE8FD7-BE4B-DE05-02E6-391006B59838}"/>
              </a:ext>
            </a:extLst>
          </p:cNvPr>
          <p:cNvSpPr txBox="1"/>
          <p:nvPr/>
        </p:nvSpPr>
        <p:spPr>
          <a:xfrm>
            <a:off x="1689657" y="4015161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Budka duża: 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2260 x 1920 x 2050 mm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3ED134E0-0410-0C90-A41A-5D4A60BD2D70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94287D-CE4C-1214-20D4-04D1C84607DC}"/>
              </a:ext>
            </a:extLst>
          </p:cNvPr>
          <p:cNvSpPr/>
          <p:nvPr/>
        </p:nvSpPr>
        <p:spPr>
          <a:xfrm>
            <a:off x="3820513" y="6074979"/>
            <a:ext cx="8371487" cy="537078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75 000 zł netto + 10 000 zł netto (aranżacja)  </a:t>
            </a:r>
            <a:br>
              <a:rPr lang="pl-PL" sz="1400" b="1" dirty="0">
                <a:solidFill>
                  <a:srgbClr val="D07800"/>
                </a:solidFill>
                <a:latin typeface="Calibri"/>
              </a:rPr>
            </a:br>
            <a:r>
              <a:rPr lang="pl-PL" sz="1000" dirty="0">
                <a:solidFill>
                  <a:srgbClr val="D07800"/>
                </a:solidFill>
                <a:latin typeface="Calibri"/>
              </a:rPr>
              <a:t>(cena może wzrosnąć z uwagi na przepisy p-</a:t>
            </a:r>
            <a:r>
              <a:rPr lang="pl-PL" sz="1000" dirty="0" err="1">
                <a:solidFill>
                  <a:srgbClr val="D07800"/>
                </a:solidFill>
                <a:latin typeface="Calibri"/>
              </a:rPr>
              <a:t>poż</a:t>
            </a:r>
            <a:r>
              <a:rPr lang="pl-PL" sz="1000" dirty="0">
                <a:solidFill>
                  <a:srgbClr val="D07800"/>
                </a:solidFill>
                <a:latin typeface="Calibri"/>
              </a:rPr>
              <a:t> Arkadii)</a:t>
            </a:r>
            <a:endParaRPr sz="1000" dirty="0">
              <a:solidFill>
                <a:srgbClr val="D07800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7C5B3-0BE0-FDA9-0748-DC805754D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211" y="3597216"/>
            <a:ext cx="22098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34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E1A5-B136-873C-4101-6F97CF96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E964AEC-B9F4-0147-7F6F-207288FFC25A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BEA5DC9-CA23-5185-A130-ACD92E656B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C908B4-96EB-4EAC-A879-53ADE0036AF5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5DE7D7-8476-8F29-BAA0-8A69587D1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68D8D9C1-9D40-4B05-9C1B-6C816A9D0019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C6D11B-0691-43DC-803F-5F3E2C352349}"/>
              </a:ext>
            </a:extLst>
          </p:cNvPr>
          <p:cNvSpPr/>
          <p:nvPr/>
        </p:nvSpPr>
        <p:spPr>
          <a:xfrm>
            <a:off x="1616506" y="1408176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C7FEE-0015-3F95-3516-11C44BDB07CF}"/>
              </a:ext>
            </a:extLst>
          </p:cNvPr>
          <p:cNvSpPr txBox="1"/>
          <p:nvPr/>
        </p:nvSpPr>
        <p:spPr>
          <a:xfrm>
            <a:off x="1479462" y="1554480"/>
            <a:ext cx="2277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800" b="1" i="0" dirty="0" err="1">
                <a:solidFill>
                  <a:srgbClr val="F0A500"/>
                </a:solidFill>
                <a:latin typeface="Arial Black"/>
              </a:rPr>
              <a:t>Theatrum</a:t>
            </a:r>
            <a:endParaRPr sz="28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E37265-19B6-11CD-3956-210CF98F5665}"/>
              </a:ext>
            </a:extLst>
          </p:cNvPr>
          <p:cNvSpPr txBox="1"/>
          <p:nvPr/>
        </p:nvSpPr>
        <p:spPr>
          <a:xfrm>
            <a:off x="1689657" y="2249424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Lokalizacja przed samym wejściem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0EDF88-7D80-4F3F-BFE0-90DD64AD19B9}"/>
              </a:ext>
            </a:extLst>
          </p:cNvPr>
          <p:cNvSpPr/>
          <p:nvPr/>
        </p:nvSpPr>
        <p:spPr>
          <a:xfrm>
            <a:off x="1616506" y="4966137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1A7490-E32B-17F5-3662-FA63818B43A9}"/>
              </a:ext>
            </a:extLst>
          </p:cNvPr>
          <p:cNvSpPr txBox="1"/>
          <p:nvPr/>
        </p:nvSpPr>
        <p:spPr>
          <a:xfrm>
            <a:off x="1689657" y="5112441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89 min.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DB7AE2-B427-9B1D-280A-08600A4D61ED}"/>
              </a:ext>
            </a:extLst>
          </p:cNvPr>
          <p:cNvSpPr txBox="1"/>
          <p:nvPr/>
        </p:nvSpPr>
        <p:spPr>
          <a:xfrm>
            <a:off x="1689657" y="5807385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Średni czas 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jednej wizyty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B6C96B-11C2-8AAF-525A-DF7B92454BF8}"/>
              </a:ext>
            </a:extLst>
          </p:cNvPr>
          <p:cNvSpPr/>
          <p:nvPr/>
        </p:nvSpPr>
        <p:spPr>
          <a:xfrm>
            <a:off x="1616506" y="3173913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E75BD9-AB78-4DF4-C5FB-A656D727D92E}"/>
              </a:ext>
            </a:extLst>
          </p:cNvPr>
          <p:cNvSpPr txBox="1"/>
          <p:nvPr/>
        </p:nvSpPr>
        <p:spPr>
          <a:xfrm>
            <a:off x="1689657" y="3320217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250K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A3E2B2-7ADC-5E99-49A4-A8B858BC5218}"/>
              </a:ext>
            </a:extLst>
          </p:cNvPr>
          <p:cNvSpPr txBox="1"/>
          <p:nvPr/>
        </p:nvSpPr>
        <p:spPr>
          <a:xfrm>
            <a:off x="1689657" y="4015161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Odwiedzających </a:t>
            </a:r>
          </a:p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(tygodniowy ruch galerii)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F0224253-855C-FD65-D2E3-6D6E4D5D2E7D}"/>
              </a:ext>
            </a:extLst>
          </p:cNvPr>
          <p:cNvSpPr/>
          <p:nvPr/>
        </p:nvSpPr>
        <p:spPr>
          <a:xfrm>
            <a:off x="1616506" y="934780"/>
            <a:ext cx="4868377" cy="510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Arkadia – centrum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handlowe</a:t>
            </a:r>
            <a:endParaRPr lang="en-US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53E558-A394-A746-3049-6EEC81CB4D04}"/>
              </a:ext>
            </a:extLst>
          </p:cNvPr>
          <p:cNvSpPr/>
          <p:nvPr/>
        </p:nvSpPr>
        <p:spPr>
          <a:xfrm>
            <a:off x="3820513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NAJMU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210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00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 (2 tygodnie)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ADDE7-486F-6EEB-1FE4-7AB5A649B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513" y="2626491"/>
            <a:ext cx="5969000" cy="3517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D817C7-5A66-2583-C338-E504B6C6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2401" b="2879"/>
          <a:stretch>
            <a:fillRect/>
          </a:stretch>
        </p:blipFill>
        <p:spPr>
          <a:xfrm>
            <a:off x="7720169" y="1433941"/>
            <a:ext cx="4177104" cy="281223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666A54-8D1F-A4A1-C99A-9EAA668E263A}"/>
              </a:ext>
            </a:extLst>
          </p:cNvPr>
          <p:cNvSpPr txBox="1"/>
          <p:nvPr/>
        </p:nvSpPr>
        <p:spPr>
          <a:xfrm>
            <a:off x="3817944" y="1604418"/>
            <a:ext cx="31924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Koszt najmu: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1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 </a:t>
            </a:r>
            <a:r>
              <a:rPr lang="pl-PL" sz="1200" b="1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tydz</a:t>
            </a:r>
            <a:r>
              <a:rPr lang="pl-PL" sz="1200" b="1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. </a:t>
            </a: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	26.10-31.10 	84 000 zł</a:t>
            </a:r>
            <a:r>
              <a:rPr lang="pl-PL" sz="120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netto</a:t>
            </a:r>
            <a:endParaRPr lang="pl-PL"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  <a:p>
            <a:r>
              <a:rPr lang="pl-PL" sz="1200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 </a:t>
            </a:r>
            <a:r>
              <a:rPr lang="pl-PL" sz="1200" b="1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tydz</a:t>
            </a:r>
            <a:r>
              <a:rPr lang="pl-PL" sz="1200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. </a:t>
            </a:r>
            <a:r>
              <a:rPr lang="pl-PL" sz="120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	02.11-07.11 	109 000 zł netto</a:t>
            </a:r>
            <a:endParaRPr lang="pl-PL"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  <a:p>
            <a:r>
              <a:rPr lang="pl-PL" sz="1200" b="1" dirty="0">
                <a:solidFill>
                  <a:srgbClr val="FF0000"/>
                </a:solidFill>
                <a:latin typeface="Calibri"/>
              </a:rPr>
              <a:t>2 tyg. </a:t>
            </a:r>
            <a:r>
              <a:rPr lang="pl-PL" sz="1200" dirty="0">
                <a:solidFill>
                  <a:srgbClr val="FF0000"/>
                </a:solidFill>
                <a:latin typeface="Calibri"/>
              </a:rPr>
              <a:t> 	26.10-07.11</a:t>
            </a:r>
            <a:r>
              <a:rPr lang="pl-PL" sz="1200" b="0" i="0" dirty="0">
                <a:solidFill>
                  <a:srgbClr val="FF0000"/>
                </a:solidFill>
                <a:latin typeface="Calibri"/>
              </a:rPr>
              <a:t> 	210 000 </a:t>
            </a:r>
            <a:r>
              <a:rPr lang="pl-PL" sz="1200" dirty="0">
                <a:solidFill>
                  <a:srgbClr val="FF0000"/>
                </a:solidFill>
                <a:latin typeface="Calibri"/>
              </a:rPr>
              <a:t>zł netto</a:t>
            </a:r>
          </a:p>
        </p:txBody>
      </p:sp>
    </p:spTree>
    <p:extLst>
      <p:ext uri="{BB962C8B-B14F-4D97-AF65-F5344CB8AC3E}">
        <p14:creationId xmlns:p14="http://schemas.microsoft.com/office/powerpoint/2010/main" val="920435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A71F4-97BD-B499-878D-953417CD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72708F21-10B3-B2D0-6928-2ACDBF09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AC9E1041-F26D-BA0C-05C4-97C2CCB33D40}"/>
              </a:ext>
            </a:extLst>
          </p:cNvPr>
          <p:cNvSpPr/>
          <p:nvPr/>
        </p:nvSpPr>
        <p:spPr>
          <a:xfrm>
            <a:off x="457200" y="27325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2DD1B7AC-B496-FEAA-F884-1193CC566A01}"/>
              </a:ext>
            </a:extLst>
          </p:cNvPr>
          <p:cNvSpPr/>
          <p:nvPr/>
        </p:nvSpPr>
        <p:spPr>
          <a:xfrm>
            <a:off x="457199" y="3043484"/>
            <a:ext cx="1087684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A684343C-E507-1D63-4C19-592DE78D4AFF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1380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3273-5A77-735D-1216-A736FE30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C640EE4-7D21-3428-8C67-DE25D7677513}"/>
              </a:ext>
            </a:extLst>
          </p:cNvPr>
          <p:cNvSpPr/>
          <p:nvPr/>
        </p:nvSpPr>
        <p:spPr>
          <a:xfrm>
            <a:off x="1405891" y="0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31158209-E5D9-99C4-4471-C9BA2D1B46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4B6F33C-1459-B4A3-1B66-EE6682288AE0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855B50-0F8E-EDEE-DA70-EEEC5578A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BA16AD8E-5A88-305E-BAA5-6CE4EA85F101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DFBF1C4-708C-C60D-ADBF-6D6D9434CCE8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Harmonogram</a:t>
            </a:r>
            <a:endParaRPr lang="en-US" sz="24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3DE0CB8A-9936-4CC2-7491-B4D1013A92F1}"/>
              </a:ext>
            </a:extLst>
          </p:cNvPr>
          <p:cNvSpPr/>
          <p:nvPr/>
        </p:nvSpPr>
        <p:spPr>
          <a:xfrm>
            <a:off x="1641711" y="1909100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1966EA7-EB6C-6BEC-7BB1-F2E6621CFFA0}"/>
              </a:ext>
            </a:extLst>
          </p:cNvPr>
          <p:cNvSpPr/>
          <p:nvPr/>
        </p:nvSpPr>
        <p:spPr>
          <a:xfrm>
            <a:off x="1641711" y="1909099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I: TEASER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25.10)</a:t>
            </a:r>
            <a:endParaRPr lang="en-US" sz="85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C46299EF-BE53-C311-6838-1D4333DC16C5}"/>
              </a:ext>
            </a:extLst>
          </p:cNvPr>
          <p:cNvSpPr/>
          <p:nvPr/>
        </p:nvSpPr>
        <p:spPr>
          <a:xfrm>
            <a:off x="1639090" y="2396954"/>
            <a:ext cx="10058400" cy="45719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550F4F48-3DD0-E9FE-F708-6816C9FC94E6}"/>
              </a:ext>
            </a:extLst>
          </p:cNvPr>
          <p:cNvSpPr/>
          <p:nvPr/>
        </p:nvSpPr>
        <p:spPr>
          <a:xfrm>
            <a:off x="5038693" y="1909099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2CCA946E-5AAC-3F76-CFA7-DF58E9FF29FE}"/>
              </a:ext>
            </a:extLst>
          </p:cNvPr>
          <p:cNvSpPr/>
          <p:nvPr/>
        </p:nvSpPr>
        <p:spPr>
          <a:xfrm>
            <a:off x="8435675" y="1909099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0BF41E76-4A1A-0516-83B1-E3BE0D4EB5A2}"/>
              </a:ext>
            </a:extLst>
          </p:cNvPr>
          <p:cNvSpPr/>
          <p:nvPr/>
        </p:nvSpPr>
        <p:spPr>
          <a:xfrm>
            <a:off x="5038693" y="1928677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II: ARKADIA 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BUDKA CISZY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(26.10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7.11)</a:t>
            </a:r>
            <a:endParaRPr lang="en-US" sz="85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EAE4DE54-561C-5C06-082F-6BBCA935562B}"/>
              </a:ext>
            </a:extLst>
          </p:cNvPr>
          <p:cNvSpPr/>
          <p:nvPr/>
        </p:nvSpPr>
        <p:spPr>
          <a:xfrm>
            <a:off x="8377977" y="1909098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III: SPRZEDAŻ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29.11)</a:t>
            </a:r>
            <a:endParaRPr lang="en-US" sz="85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A7CEA1EA-CE6D-1F0D-8553-A64AE6D62288}"/>
              </a:ext>
            </a:extLst>
          </p:cNvPr>
          <p:cNvSpPr/>
          <p:nvPr/>
        </p:nvSpPr>
        <p:spPr>
          <a:xfrm>
            <a:off x="1641711" y="1608637"/>
            <a:ext cx="4890614" cy="237236"/>
          </a:xfrm>
          <a:prstGeom prst="rect">
            <a:avLst/>
          </a:prstGeom>
          <a:solidFill>
            <a:srgbClr val="FFFF00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3B7D9ED2-806C-51AD-87B1-3042333A51ED}"/>
              </a:ext>
            </a:extLst>
          </p:cNvPr>
          <p:cNvSpPr/>
          <p:nvPr/>
        </p:nvSpPr>
        <p:spPr>
          <a:xfrm>
            <a:off x="6637137" y="1608637"/>
            <a:ext cx="5041227" cy="237236"/>
          </a:xfrm>
          <a:prstGeom prst="rect">
            <a:avLst/>
          </a:prstGeom>
          <a:solidFill>
            <a:srgbClr val="FFFF00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DB34323C-FB3A-52D3-4DD3-18A8C43FC71C}"/>
              </a:ext>
            </a:extLst>
          </p:cNvPr>
          <p:cNvSpPr/>
          <p:nvPr/>
        </p:nvSpPr>
        <p:spPr>
          <a:xfrm>
            <a:off x="2671524" y="1599177"/>
            <a:ext cx="2739989" cy="25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PAŹDZIERNIK</a:t>
            </a:r>
            <a:endParaRPr lang="en-US" sz="85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2DA4ACC9-B8A8-C5AA-C80A-44E9F28944B3}"/>
              </a:ext>
            </a:extLst>
          </p:cNvPr>
          <p:cNvSpPr/>
          <p:nvPr/>
        </p:nvSpPr>
        <p:spPr>
          <a:xfrm>
            <a:off x="7666950" y="1589058"/>
            <a:ext cx="2739989" cy="25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LISTOPAD</a:t>
            </a:r>
            <a:endParaRPr lang="en-US" sz="85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3E83A78E-AA8C-CEF2-65C8-F1A30518705D}"/>
              </a:ext>
            </a:extLst>
          </p:cNvPr>
          <p:cNvSpPr/>
          <p:nvPr/>
        </p:nvSpPr>
        <p:spPr>
          <a:xfrm>
            <a:off x="1641712" y="2539194"/>
            <a:ext cx="10055778" cy="807337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6ECF9A48-FF06-51D9-80E7-CFFE4454421B}"/>
              </a:ext>
            </a:extLst>
          </p:cNvPr>
          <p:cNvSpPr/>
          <p:nvPr/>
        </p:nvSpPr>
        <p:spPr>
          <a:xfrm>
            <a:off x="1718517" y="265994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PR*</a:t>
            </a:r>
            <a:endParaRPr lang="en-US" sz="12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7E0CFB1B-E123-FB67-7F98-C0F80013F2E5}"/>
              </a:ext>
            </a:extLst>
          </p:cNvPr>
          <p:cNvSpPr/>
          <p:nvPr/>
        </p:nvSpPr>
        <p:spPr>
          <a:xfrm>
            <a:off x="1718517" y="3007418"/>
            <a:ext cx="9578848" cy="21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Publikacja artykułów sponsorowanych, media relations, dystrybucja materiałów prasowych, wsparcie briefingu prasowego, monitoring i raportowanie.</a:t>
            </a:r>
            <a:endParaRPr lang="en-US" sz="95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6099FF8A-66CE-8048-8321-29152AB56603}"/>
              </a:ext>
            </a:extLst>
          </p:cNvPr>
          <p:cNvSpPr/>
          <p:nvPr/>
        </p:nvSpPr>
        <p:spPr>
          <a:xfrm>
            <a:off x="1641712" y="3467283"/>
            <a:ext cx="3242689" cy="903810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A2A873F2-6982-52A0-0691-6F0BE8713F99}"/>
              </a:ext>
            </a:extLst>
          </p:cNvPr>
          <p:cNvSpPr/>
          <p:nvPr/>
        </p:nvSpPr>
        <p:spPr>
          <a:xfrm>
            <a:off x="1718517" y="358803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B943E08A-3D85-8967-47EC-8C9A3FF3BC72}"/>
              </a:ext>
            </a:extLst>
          </p:cNvPr>
          <p:cNvSpPr/>
          <p:nvPr/>
        </p:nvSpPr>
        <p:spPr>
          <a:xfrm>
            <a:off x="1718517" y="3866584"/>
            <a:ext cx="3034613" cy="43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ze wzmocnieniem mediowym w Warszawie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TikTok, YouTube, GDN).</a:t>
            </a:r>
            <a:endParaRPr lang="en-US" sz="950"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15A843C9-0270-14C2-D55D-A5D0E6CFEF34}"/>
              </a:ext>
            </a:extLst>
          </p:cNvPr>
          <p:cNvSpPr/>
          <p:nvPr/>
        </p:nvSpPr>
        <p:spPr>
          <a:xfrm>
            <a:off x="1639090" y="4491845"/>
            <a:ext cx="3245311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3DC35020-18A9-5B20-C7CE-0B88A5FC51D8}"/>
              </a:ext>
            </a:extLst>
          </p:cNvPr>
          <p:cNvSpPr/>
          <p:nvPr/>
        </p:nvSpPr>
        <p:spPr>
          <a:xfrm>
            <a:off x="1718517" y="4572367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6EA10C5E-71BA-1DF2-9D27-0E1E26B88761}"/>
              </a:ext>
            </a:extLst>
          </p:cNvPr>
          <p:cNvSpPr/>
          <p:nvPr/>
        </p:nvSpPr>
        <p:spPr>
          <a:xfrm>
            <a:off x="1712680" y="4954864"/>
            <a:ext cx="3040450" cy="44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</a:t>
            </a:r>
            <a:r>
              <a:rPr lang="pl-PL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(Google </a:t>
            </a:r>
            <a:r>
              <a:rPr lang="pl-PL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950" dirty="0"/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E448229C-93D3-FBA2-E0E8-8B15B1746FE8}"/>
              </a:ext>
            </a:extLst>
          </p:cNvPr>
          <p:cNvSpPr/>
          <p:nvPr/>
        </p:nvSpPr>
        <p:spPr>
          <a:xfrm>
            <a:off x="5038693" y="5547952"/>
            <a:ext cx="4360251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6DE51124-4F7C-67C3-2F54-57085FE46B24}"/>
              </a:ext>
            </a:extLst>
          </p:cNvPr>
          <p:cNvSpPr/>
          <p:nvPr/>
        </p:nvSpPr>
        <p:spPr>
          <a:xfrm>
            <a:off x="5115498" y="56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INFLUENCERZY*</a:t>
            </a:r>
            <a:endParaRPr lang="en-US" sz="1200" dirty="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5E663AAD-BDB3-EE0F-92B1-D458471DBEE9}"/>
              </a:ext>
            </a:extLst>
          </p:cNvPr>
          <p:cNvSpPr/>
          <p:nvPr/>
        </p:nvSpPr>
        <p:spPr>
          <a:xfrm>
            <a:off x="5115498" y="5974136"/>
            <a:ext cx="4154628" cy="31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na Instagramie i YouTube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(Reels, Stories, Shorts) z twórcami 250 tys.+ obserwujących, dobranymi pod grupę docelową, z płatną amplifikacją ich treści.</a:t>
            </a:r>
            <a:endParaRPr lang="en-US" sz="950" dirty="0"/>
          </a:p>
        </p:txBody>
      </p:sp>
      <p:sp>
        <p:nvSpPr>
          <p:cNvPr id="66" name="Shape 2">
            <a:extLst>
              <a:ext uri="{FF2B5EF4-FFF2-40B4-BE49-F238E27FC236}">
                <a16:creationId xmlns:a16="http://schemas.microsoft.com/office/drawing/2014/main" id="{4B28E3F2-019A-4701-6F11-8C3C98DC5F33}"/>
              </a:ext>
            </a:extLst>
          </p:cNvPr>
          <p:cNvSpPr/>
          <p:nvPr/>
        </p:nvSpPr>
        <p:spPr>
          <a:xfrm>
            <a:off x="5038693" y="4494791"/>
            <a:ext cx="6694659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A78C0308-D200-0FA4-7C98-32947A08ACA2}"/>
              </a:ext>
            </a:extLst>
          </p:cNvPr>
          <p:cNvSpPr/>
          <p:nvPr/>
        </p:nvSpPr>
        <p:spPr>
          <a:xfrm>
            <a:off x="5115498" y="4578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95B32EAC-5634-CEE7-6EE9-FDDC76F57A63}"/>
              </a:ext>
            </a:extLst>
          </p:cNvPr>
          <p:cNvSpPr/>
          <p:nvPr/>
        </p:nvSpPr>
        <p:spPr>
          <a:xfrm>
            <a:off x="5115498" y="4959367"/>
            <a:ext cx="5803338" cy="44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performance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Google Search)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oraz remarketing domykający ścieżkę zakupową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GDN).</a:t>
            </a:r>
            <a:endParaRPr lang="en-US" sz="95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AF2E8443-1B68-C9D7-2B03-2E940C6A611C}"/>
              </a:ext>
            </a:extLst>
          </p:cNvPr>
          <p:cNvSpPr/>
          <p:nvPr/>
        </p:nvSpPr>
        <p:spPr>
          <a:xfrm>
            <a:off x="1600365" y="6585723"/>
            <a:ext cx="5610060" cy="23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Szczegółowe założenia działań PR i influencerskich przekażemy najpóźniej 21 sierpnia.</a:t>
            </a:r>
            <a:endParaRPr lang="en-US" sz="1000" dirty="0"/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1C85D6F5-FEB7-3AF0-6A2D-9F0241D62BA9}"/>
              </a:ext>
            </a:extLst>
          </p:cNvPr>
          <p:cNvSpPr/>
          <p:nvPr/>
        </p:nvSpPr>
        <p:spPr>
          <a:xfrm>
            <a:off x="5015792" y="3465940"/>
            <a:ext cx="3242689" cy="903810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4FC3DFD9-02E4-BE6C-5484-E79707AA4444}"/>
              </a:ext>
            </a:extLst>
          </p:cNvPr>
          <p:cNvSpPr/>
          <p:nvPr/>
        </p:nvSpPr>
        <p:spPr>
          <a:xfrm>
            <a:off x="5092597" y="3934163"/>
            <a:ext cx="3034613" cy="43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ze wzmocnieniem mediowym w Warszawie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TikTok, YouTube).</a:t>
            </a:r>
            <a:endParaRPr lang="en-US" sz="950" dirty="0"/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81DAB935-64E6-8ADE-7FF6-67789628EDB9}"/>
              </a:ext>
            </a:extLst>
          </p:cNvPr>
          <p:cNvSpPr/>
          <p:nvPr/>
        </p:nvSpPr>
        <p:spPr>
          <a:xfrm>
            <a:off x="5106630" y="358803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3833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A8CA-9190-EFC0-E1E4-E427B2E2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102956F-3C5A-2796-85D5-B98AB969B36C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01C46DD3-EB4B-855A-39A8-8D3DFE16C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9581B80-B3D8-D57E-9CA1-BB758B6C6D11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3816CB-5D19-5BAC-DA41-74FA15099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F6B3EF68-3683-2358-A225-721DB5C4D311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44DDA89-6B87-BB0D-3DEC-322382DCDF6F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Teaser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15D81FC-CCFE-C874-A662-24964BA5708F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2723F24-1CA4-C7FE-D8B2-C61A3C9570DA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3509E3D-2B95-8632-AD5C-C0829C6D4302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6F97444-9E0D-EB28-9AA2-66CC32753243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???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28B5B9-4724-8CFF-8B44-6391E095ADCA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3A5EA0-9572-C47C-1E48-5DB54E015D49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447B411-03F9-A673-4918-D1C429116A47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F7FA297-A1B7-433C-E01B-06215C2E4463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DEEE201-45D8-0530-16BA-9CC593FD9564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???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13D4621-94E5-D129-C472-4345832C5FF1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29AC9E9-1064-3CCE-3657-643795A9FCE7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A678B743-BCF9-0DB8-83C3-2CB3F83EE353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9F9ADB0B-59EB-32EE-E525-52185F16BA5B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1CA8254-7896-4119-98AD-F8934CB72DB5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</a:t>
            </a: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4EAB274-2EA1-90E7-460C-690B8302E2C8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54671816-F22D-19BA-4F41-F8834CDC4575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D7394F9B-81F6-4F7F-87EC-26D065ADDE6D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04063357-B4B5-2734-4884-D30AE74CCE05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5812E8DD-B004-3F1B-9AC2-85311D426426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753253EA-17B2-D775-ED44-E729A5AC8CAC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7E7C71C-21DA-874D-9C9F-66A282B43619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49C6B7EA-AD14-0AC9-8688-BE51E7D3F24C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E6339CF3-2127-0BE7-ABCF-C63BF2043F80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D3B2E2-0148-1B3B-D11C-40E569A2E63E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15 000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830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F24C-65D7-1DF2-222D-7C257F178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C75294D-D2D8-71FD-AA19-57EBE49E56B0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D0F1AB30-1C9F-080A-DD5A-8D9990E0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12B1282-7790-3948-1107-91423EEB329F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A85396-C11E-1124-8FA5-9868AB79D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CD3A825C-03B7-34BC-6F0E-D5765100DA7B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E7461856-26BA-8C01-AB45-1CAF4964F9D2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KV, film social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48221A-6B90-0F74-3974-C7B53202D5AA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F2EF771-92E2-FC9C-56BE-8DBD7C7C248E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A303A1E-45B1-0DB4-1901-C06690F95639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BCA9AAE-B4BE-BD23-21DA-330E76CACA75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 galerii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D08DA8-5682-A259-1A5F-ACC06932B2C3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032033D-EF91-6191-9BFD-A75939EF4C77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43C65F7-E2D4-558D-EBBD-2DBA73F20AE9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DD1E8CA-FF54-6A42-D3C6-6DD475FE53FF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3278C6C-1EBC-5DF8-DD82-7712BD987941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Odkrycie kabiny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EA966EB-F51D-70FC-708B-AB3E18A3958E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83CA4C97-7E06-125E-01F4-9A34407A747E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C72CAF2-46BA-3304-C7EB-2F3BBFEC3D5D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733C78A-709E-395E-1157-74F71C86F4E6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68217E3-ACD6-6EA9-F731-DAC4AE9C1FEC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F71A80C-2BAB-DC4A-7B99-E9D5FF9CDC6D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B00FE2C8-9108-D5A1-1E4C-46D237043673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6E5BE8D0-AB5D-969C-71E0-29B08BEF26E0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51C9567B-EC95-4478-0E1D-4558CC5D7E8D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49468A7D-A435-67CF-10C1-85AA6B585CB6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C7BC72D3-9506-B51A-0E57-A2240F33906A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F332FAA-DD1F-FD60-10B5-A83AB81820F4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KV, film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zachęcający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odwiedzenia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Galerii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sprawdzenia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jak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cicha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WHP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669B9C49-49BD-0413-30E4-B131FB9E1BCC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83996F89-046E-40EE-80CE-B920FD9D596E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2CC2D-229A-8573-A3B0-81D34CF427EC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45 000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423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4523-D615-3400-376D-BB8598C0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560F19C-36E8-166D-EA59-93F042C900CC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D4FEE3DA-A3E2-8372-0570-BE7CA6C96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BF41B8-C40A-962D-8E72-8E76ECD070F7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233E43-297B-AB0D-B6BF-85C187F04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543F660F-3AAF-591A-6A60-F3421D768428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ADB4E1A8-8786-9A3F-22F1-CDF8898D101C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Sprzedaż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37EC674-A933-C1F6-C201-78E542A389A9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BE49ABC-9092-BB04-0C36-5F46F955BD47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03FE1D6-3C58-D227-D256-DDCA902A8665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BBC35E6-4BF4-2841-189D-50A283A9EFA9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FFBD6DD-418B-08EA-06F2-2C903DC3AFC1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C82FA85-15CD-6B62-0624-CC57F4654806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D4C0C63-5332-E5FD-0D68-A3271449C30C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708BBC5-937A-31CB-4BDE-31BC21E328BE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AB03A4B-623F-1E2A-82F1-F15247D890D6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Odkrycie kabiny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E731859-9D0A-0290-E0C2-851471C66475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729CFFB6-6623-4944-9AE0-0FC053BF277E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0AF16AF-D767-51CB-AD42-23495A096D91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AF0803F-CB75-790D-8545-2B5AE3358A20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0F19C29-C754-EBB1-F133-47CE6CEDB526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EA71DCC6-A101-27B2-145D-146C4493EB9A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BA1525BE-5C69-CC02-8365-B61514E2B9BF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9DF2F4B8-AD7B-B169-3629-5FE2433E657F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73CDE9B7-B71B-2F1F-AE91-69ADE0E9E8B9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1C6CDEDD-204A-740F-8CC1-C12BE44061F5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220DCC6D-AED7-D3A7-3DAB-0D3780AB0C8F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ED778F96-EC4F-A73E-735C-01B58CABBC14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EBB808F4-DB28-76A3-47BD-6B51A4A69A06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3DB49355-551F-4D9F-7A4A-F7F1E1B33E18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51FF32-1EDC-03E7-D950-3D913A3DC7CB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45 000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7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97D7-1AA7-F2B0-2D7E-06D52790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C79243C-A4A8-A98A-141A-DDB7D173B342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25F8048B-20A8-BC27-69A1-C8003B352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B2FE8D-7980-5C9F-46EB-373595448D06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462D6A-D748-6E7E-D3E9-8CEB428D0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4A90C6BA-E1BA-4153-1CCB-1F0A9BFB313B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C4A25CBF-436B-2C5A-AF69-75371A2DEE15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Dodatkowe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endParaRPr lang="en-US" sz="240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46F8C4DC-307B-BED6-C7CA-25F89133258E}"/>
              </a:ext>
            </a:extLst>
          </p:cNvPr>
          <p:cNvSpPr/>
          <p:nvPr/>
        </p:nvSpPr>
        <p:spPr>
          <a:xfrm>
            <a:off x="1616506" y="1629515"/>
            <a:ext cx="8430768" cy="66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29dBA +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Influencerzy</a:t>
            </a:r>
            <a:endParaRPr lang="en-US" sz="2000" dirty="0"/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7F4B8DB9-A994-8FF2-D446-7BB49E2BE776}"/>
              </a:ext>
            </a:extLst>
          </p:cNvPr>
          <p:cNvSpPr/>
          <p:nvPr/>
        </p:nvSpPr>
        <p:spPr>
          <a:xfrm>
            <a:off x="1616506" y="1980353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MECHANIKA: Influencer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próbuje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zbliżyć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się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29 dBA (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szept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skrzypce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filcem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przewracanie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…). </a:t>
            </a:r>
            <a:b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Odkrywa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niemożliwe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wygrywa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#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CiszaWyzwanie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#29dBA</a:t>
            </a:r>
            <a:endParaRPr lang="en-US" sz="14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DDB5F2F-0878-000C-74F0-6C7C83794B6C}"/>
              </a:ext>
            </a:extLst>
          </p:cNvPr>
          <p:cNvSpPr/>
          <p:nvPr/>
        </p:nvSpPr>
        <p:spPr>
          <a:xfrm>
            <a:off x="1616506" y="2748446"/>
            <a:ext cx="5082998" cy="25603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2B5A98B-560D-F519-766D-11695A990AD2}"/>
              </a:ext>
            </a:extLst>
          </p:cNvPr>
          <p:cNvSpPr/>
          <p:nvPr/>
        </p:nvSpPr>
        <p:spPr>
          <a:xfrm>
            <a:off x="1671370" y="274844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Twórca</a:t>
            </a:r>
            <a:endParaRPr lang="en-US" sz="8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FCEC6C3-FA98-5DF0-3CC2-FE93E6CA73C2}"/>
              </a:ext>
            </a:extLst>
          </p:cNvPr>
          <p:cNvSpPr/>
          <p:nvPr/>
        </p:nvSpPr>
        <p:spPr>
          <a:xfrm>
            <a:off x="3166414" y="274844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</a:t>
            </a:r>
            <a:endParaRPr lang="en-US" sz="8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87A2B7EB-5777-9680-3EC7-E6DF5C3C091D}"/>
              </a:ext>
            </a:extLst>
          </p:cNvPr>
          <p:cNvSpPr/>
          <p:nvPr/>
        </p:nvSpPr>
        <p:spPr>
          <a:xfrm>
            <a:off x="4437127" y="274844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Obserwujący</a:t>
            </a:r>
            <a:endParaRPr lang="en-US" sz="8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67068CF-B82F-2549-5EEF-A22427DCC91B}"/>
              </a:ext>
            </a:extLst>
          </p:cNvPr>
          <p:cNvSpPr/>
          <p:nvPr/>
        </p:nvSpPr>
        <p:spPr>
          <a:xfrm>
            <a:off x="5474208" y="274844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E3693F83-5A85-FFA9-C361-8AB27F444A8B}"/>
              </a:ext>
            </a:extLst>
          </p:cNvPr>
          <p:cNvSpPr/>
          <p:nvPr/>
        </p:nvSpPr>
        <p:spPr>
          <a:xfrm>
            <a:off x="1616506" y="3059342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47D86AD-BB23-3AA5-05BD-7E7A50541D4A}"/>
              </a:ext>
            </a:extLst>
          </p:cNvPr>
          <p:cNvSpPr/>
          <p:nvPr/>
        </p:nvSpPr>
        <p:spPr>
          <a:xfrm>
            <a:off x="1616506" y="3059342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FF0C42B6-5447-24D7-5CB8-0656EB9D61EE}"/>
              </a:ext>
            </a:extLst>
          </p:cNvPr>
          <p:cNvSpPr/>
          <p:nvPr/>
        </p:nvSpPr>
        <p:spPr>
          <a:xfrm>
            <a:off x="1689658" y="311420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Agnieszka Szmytke @agi_home</a:t>
            </a:r>
            <a:endParaRPr lang="en-US" sz="95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253A32A-98B3-86D6-63C1-9ACC32F211B5}"/>
              </a:ext>
            </a:extLst>
          </p:cNvPr>
          <p:cNvSpPr/>
          <p:nvPr/>
        </p:nvSpPr>
        <p:spPr>
          <a:xfrm>
            <a:off x="3184702" y="311420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Wnętrza/Dom</a:t>
            </a:r>
            <a:endParaRPr lang="en-US" sz="95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CA02E6EF-36BC-6B00-9D08-D9A1A160ED14}"/>
              </a:ext>
            </a:extLst>
          </p:cNvPr>
          <p:cNvSpPr/>
          <p:nvPr/>
        </p:nvSpPr>
        <p:spPr>
          <a:xfrm>
            <a:off x="4455415" y="311420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320K</a:t>
            </a:r>
            <a:endParaRPr lang="en-US" sz="95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F88359CA-AFD3-9126-23C6-A3BA8F7BC105}"/>
              </a:ext>
            </a:extLst>
          </p:cNvPr>
          <p:cNvSpPr/>
          <p:nvPr/>
        </p:nvSpPr>
        <p:spPr>
          <a:xfrm>
            <a:off x="5492496" y="311420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8F4FD657-1149-C05F-BE55-CF699FD5B065}"/>
              </a:ext>
            </a:extLst>
          </p:cNvPr>
          <p:cNvSpPr/>
          <p:nvPr/>
        </p:nvSpPr>
        <p:spPr>
          <a:xfrm>
            <a:off x="1616506" y="3461678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54B3F5BF-681D-8F90-4917-22640F046E7A}"/>
              </a:ext>
            </a:extLst>
          </p:cNvPr>
          <p:cNvSpPr/>
          <p:nvPr/>
        </p:nvSpPr>
        <p:spPr>
          <a:xfrm>
            <a:off x="1616506" y="3461678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660AA55D-1774-CE08-18B8-783C75E7F25B}"/>
              </a:ext>
            </a:extLst>
          </p:cNvPr>
          <p:cNvSpPr/>
          <p:nvPr/>
        </p:nvSpPr>
        <p:spPr>
          <a:xfrm>
            <a:off x="1689658" y="351654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 Jarek @jaroslaw.design</a:t>
            </a:r>
            <a:endParaRPr lang="en-US" sz="95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CE420820-F71B-932B-8398-DCF49B2027CE}"/>
              </a:ext>
            </a:extLst>
          </p:cNvPr>
          <p:cNvSpPr/>
          <p:nvPr/>
        </p:nvSpPr>
        <p:spPr>
          <a:xfrm>
            <a:off x="3184702" y="351654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Wnętrza/Dom</a:t>
            </a:r>
            <a:endParaRPr lang="en-US" sz="950" dirty="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FB171CD5-FA07-C7DC-B8EB-57C781770160}"/>
              </a:ext>
            </a:extLst>
          </p:cNvPr>
          <p:cNvSpPr/>
          <p:nvPr/>
        </p:nvSpPr>
        <p:spPr>
          <a:xfrm>
            <a:off x="4455415" y="351654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</a:t>
            </a:r>
            <a:endParaRPr lang="en-US" sz="950" dirty="0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8470EE50-0471-72E1-5D51-27760C7BFCD7}"/>
              </a:ext>
            </a:extLst>
          </p:cNvPr>
          <p:cNvSpPr/>
          <p:nvPr/>
        </p:nvSpPr>
        <p:spPr>
          <a:xfrm>
            <a:off x="5492496" y="351654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Reel+YT</a:t>
            </a:r>
            <a:endParaRPr lang="en-US" sz="950" dirty="0"/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8261DEDB-1315-D5C9-D8E4-8E4651704C2E}"/>
              </a:ext>
            </a:extLst>
          </p:cNvPr>
          <p:cNvSpPr/>
          <p:nvPr/>
        </p:nvSpPr>
        <p:spPr>
          <a:xfrm>
            <a:off x="1616506" y="3864014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30">
            <a:extLst>
              <a:ext uri="{FF2B5EF4-FFF2-40B4-BE49-F238E27FC236}">
                <a16:creationId xmlns:a16="http://schemas.microsoft.com/office/drawing/2014/main" id="{F134442E-8936-6814-E5F4-10C842A77577}"/>
              </a:ext>
            </a:extLst>
          </p:cNvPr>
          <p:cNvSpPr/>
          <p:nvPr/>
        </p:nvSpPr>
        <p:spPr>
          <a:xfrm>
            <a:off x="1616506" y="3864014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C5B7EDB6-22CE-9EE0-FBED-B38EB66B3738}"/>
              </a:ext>
            </a:extLst>
          </p:cNvPr>
          <p:cNvSpPr/>
          <p:nvPr/>
        </p:nvSpPr>
        <p:spPr>
          <a:xfrm>
            <a:off x="1689658" y="391887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Maffashion @maffashion_official</a:t>
            </a:r>
            <a:endParaRPr lang="en-US" sz="95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1CA81648-05EC-B3EB-92C4-3D5B7BE2F99F}"/>
              </a:ext>
            </a:extLst>
          </p:cNvPr>
          <p:cNvSpPr/>
          <p:nvPr/>
        </p:nvSpPr>
        <p:spPr>
          <a:xfrm>
            <a:off x="3184702" y="391887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premium</a:t>
            </a:r>
            <a:endParaRPr lang="en-US" sz="950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211D9FC1-8415-9F63-EFFB-7A5EDE2757C9}"/>
              </a:ext>
            </a:extLst>
          </p:cNvPr>
          <p:cNvSpPr/>
          <p:nvPr/>
        </p:nvSpPr>
        <p:spPr>
          <a:xfrm>
            <a:off x="4455415" y="391887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980K</a:t>
            </a:r>
            <a:endParaRPr lang="en-US" sz="950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16AD97B4-7B0B-2B8F-2DE9-FB53B89A9CF4}"/>
              </a:ext>
            </a:extLst>
          </p:cNvPr>
          <p:cNvSpPr/>
          <p:nvPr/>
        </p:nvSpPr>
        <p:spPr>
          <a:xfrm>
            <a:off x="5492496" y="391887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9CD8EC93-747C-0246-CF3F-C8FA7BCAEC9C}"/>
              </a:ext>
            </a:extLst>
          </p:cNvPr>
          <p:cNvSpPr/>
          <p:nvPr/>
        </p:nvSpPr>
        <p:spPr>
          <a:xfrm>
            <a:off x="1616506" y="4266350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38">
            <a:extLst>
              <a:ext uri="{FF2B5EF4-FFF2-40B4-BE49-F238E27FC236}">
                <a16:creationId xmlns:a16="http://schemas.microsoft.com/office/drawing/2014/main" id="{FCB078BE-6D01-A6ED-F073-1CFA61115BCC}"/>
              </a:ext>
            </a:extLst>
          </p:cNvPr>
          <p:cNvSpPr/>
          <p:nvPr/>
        </p:nvSpPr>
        <p:spPr>
          <a:xfrm>
            <a:off x="1616506" y="4266350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9">
            <a:extLst>
              <a:ext uri="{FF2B5EF4-FFF2-40B4-BE49-F238E27FC236}">
                <a16:creationId xmlns:a16="http://schemas.microsoft.com/office/drawing/2014/main" id="{DC798432-9C6F-A1AA-AA9F-298FFE272B72}"/>
              </a:ext>
            </a:extLst>
          </p:cNvPr>
          <p:cNvSpPr/>
          <p:nvPr/>
        </p:nvSpPr>
        <p:spPr>
          <a:xfrm>
            <a:off x="1689658" y="432121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i Córka @mamaicorka.pl</a:t>
            </a:r>
            <a:endParaRPr lang="en-US" sz="950" dirty="0"/>
          </a:p>
        </p:txBody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D1F85897-35D6-87B9-B113-88C2308D09E3}"/>
              </a:ext>
            </a:extLst>
          </p:cNvPr>
          <p:cNvSpPr/>
          <p:nvPr/>
        </p:nvSpPr>
        <p:spPr>
          <a:xfrm>
            <a:off x="3184702" y="432121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Rodzina/Mama</a:t>
            </a:r>
            <a:endParaRPr lang="en-US" sz="950" dirty="0"/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0A054844-5641-7097-A781-B9764838FB6F}"/>
              </a:ext>
            </a:extLst>
          </p:cNvPr>
          <p:cNvSpPr/>
          <p:nvPr/>
        </p:nvSpPr>
        <p:spPr>
          <a:xfrm>
            <a:off x="4455415" y="432121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</a:t>
            </a:r>
            <a:endParaRPr lang="en-US" sz="950" dirty="0"/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24E399AC-A990-99E7-67A7-BA9A8E360791}"/>
              </a:ext>
            </a:extLst>
          </p:cNvPr>
          <p:cNvSpPr/>
          <p:nvPr/>
        </p:nvSpPr>
        <p:spPr>
          <a:xfrm>
            <a:off x="5492496" y="432121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Reel+blog</a:t>
            </a:r>
            <a:endParaRPr lang="en-US" sz="950" dirty="0"/>
          </a:p>
        </p:txBody>
      </p:sp>
      <p:sp>
        <p:nvSpPr>
          <p:cNvPr id="82" name="Shape 45">
            <a:extLst>
              <a:ext uri="{FF2B5EF4-FFF2-40B4-BE49-F238E27FC236}">
                <a16:creationId xmlns:a16="http://schemas.microsoft.com/office/drawing/2014/main" id="{F3047BB6-4A9A-2074-861F-C5F97B53D29E}"/>
              </a:ext>
            </a:extLst>
          </p:cNvPr>
          <p:cNvSpPr/>
          <p:nvPr/>
        </p:nvSpPr>
        <p:spPr>
          <a:xfrm>
            <a:off x="1616506" y="4668686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46">
            <a:extLst>
              <a:ext uri="{FF2B5EF4-FFF2-40B4-BE49-F238E27FC236}">
                <a16:creationId xmlns:a16="http://schemas.microsoft.com/office/drawing/2014/main" id="{5212315B-3917-62A6-A709-C40FA36FB103}"/>
              </a:ext>
            </a:extLst>
          </p:cNvPr>
          <p:cNvSpPr/>
          <p:nvPr/>
        </p:nvSpPr>
        <p:spPr>
          <a:xfrm>
            <a:off x="1616506" y="4668686"/>
            <a:ext cx="45720" cy="365760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47">
            <a:extLst>
              <a:ext uri="{FF2B5EF4-FFF2-40B4-BE49-F238E27FC236}">
                <a16:creationId xmlns:a16="http://schemas.microsoft.com/office/drawing/2014/main" id="{02521BB9-7F00-37C8-8C04-61129D602B53}"/>
              </a:ext>
            </a:extLst>
          </p:cNvPr>
          <p:cNvSpPr/>
          <p:nvPr/>
        </p:nvSpPr>
        <p:spPr>
          <a:xfrm>
            <a:off x="1689658" y="472355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 Goes Chic @geekgoeschic</a:t>
            </a:r>
            <a:endParaRPr lang="en-US" sz="950" dirty="0"/>
          </a:p>
        </p:txBody>
      </p:sp>
      <p:sp>
        <p:nvSpPr>
          <p:cNvPr id="85" name="Text 48">
            <a:extLst>
              <a:ext uri="{FF2B5EF4-FFF2-40B4-BE49-F238E27FC236}">
                <a16:creationId xmlns:a16="http://schemas.microsoft.com/office/drawing/2014/main" id="{6FFE88CD-4585-3080-46E2-FCD0809A4D26}"/>
              </a:ext>
            </a:extLst>
          </p:cNvPr>
          <p:cNvSpPr/>
          <p:nvPr/>
        </p:nvSpPr>
        <p:spPr>
          <a:xfrm>
            <a:off x="3184702" y="472355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Tech/AGD</a:t>
            </a:r>
            <a:endParaRPr lang="en-US" sz="950" dirty="0"/>
          </a:p>
        </p:txBody>
      </p:sp>
      <p:sp>
        <p:nvSpPr>
          <p:cNvPr id="86" name="Text 49">
            <a:extLst>
              <a:ext uri="{FF2B5EF4-FFF2-40B4-BE49-F238E27FC236}">
                <a16:creationId xmlns:a16="http://schemas.microsoft.com/office/drawing/2014/main" id="{6436F302-8CA0-3C9E-82B7-46E234C7D961}"/>
              </a:ext>
            </a:extLst>
          </p:cNvPr>
          <p:cNvSpPr/>
          <p:nvPr/>
        </p:nvSpPr>
        <p:spPr>
          <a:xfrm>
            <a:off x="4455415" y="472355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</a:t>
            </a:r>
            <a:endParaRPr lang="en-US" sz="950" dirty="0"/>
          </a:p>
        </p:txBody>
      </p:sp>
      <p:sp>
        <p:nvSpPr>
          <p:cNvPr id="87" name="Text 50">
            <a:extLst>
              <a:ext uri="{FF2B5EF4-FFF2-40B4-BE49-F238E27FC236}">
                <a16:creationId xmlns:a16="http://schemas.microsoft.com/office/drawing/2014/main" id="{6BD330F9-5D8D-C1B2-E108-134E1E97281A}"/>
              </a:ext>
            </a:extLst>
          </p:cNvPr>
          <p:cNvSpPr/>
          <p:nvPr/>
        </p:nvSpPr>
        <p:spPr>
          <a:xfrm>
            <a:off x="5492496" y="472355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recenzja YT</a:t>
            </a:r>
            <a:endParaRPr lang="en-US" sz="950" dirty="0"/>
          </a:p>
        </p:txBody>
      </p:sp>
      <p:sp>
        <p:nvSpPr>
          <p:cNvPr id="90" name="Shape 53">
            <a:extLst>
              <a:ext uri="{FF2B5EF4-FFF2-40B4-BE49-F238E27FC236}">
                <a16:creationId xmlns:a16="http://schemas.microsoft.com/office/drawing/2014/main" id="{E2F13761-DDF1-F734-ED2F-0817859F30B8}"/>
              </a:ext>
            </a:extLst>
          </p:cNvPr>
          <p:cNvSpPr/>
          <p:nvPr/>
        </p:nvSpPr>
        <p:spPr>
          <a:xfrm>
            <a:off x="1616506" y="5071022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54">
            <a:extLst>
              <a:ext uri="{FF2B5EF4-FFF2-40B4-BE49-F238E27FC236}">
                <a16:creationId xmlns:a16="http://schemas.microsoft.com/office/drawing/2014/main" id="{21B62EEF-4789-505F-0CD9-A0E142C05EBF}"/>
              </a:ext>
            </a:extLst>
          </p:cNvPr>
          <p:cNvSpPr/>
          <p:nvPr/>
        </p:nvSpPr>
        <p:spPr>
          <a:xfrm>
            <a:off x="1616506" y="5071022"/>
            <a:ext cx="45720" cy="365760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55">
            <a:extLst>
              <a:ext uri="{FF2B5EF4-FFF2-40B4-BE49-F238E27FC236}">
                <a16:creationId xmlns:a16="http://schemas.microsoft.com/office/drawing/2014/main" id="{22E9B960-24B5-4026-4C16-87B5DEC2B516}"/>
              </a:ext>
            </a:extLst>
          </p:cNvPr>
          <p:cNvSpPr/>
          <p:nvPr/>
        </p:nvSpPr>
        <p:spPr>
          <a:xfrm>
            <a:off x="1689658" y="512588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Brodnicki @pascalbrodnicki</a:t>
            </a:r>
            <a:endParaRPr lang="en-US" sz="950" dirty="0"/>
          </a:p>
        </p:txBody>
      </p:sp>
      <p:sp>
        <p:nvSpPr>
          <p:cNvPr id="93" name="Text 56">
            <a:extLst>
              <a:ext uri="{FF2B5EF4-FFF2-40B4-BE49-F238E27FC236}">
                <a16:creationId xmlns:a16="http://schemas.microsoft.com/office/drawing/2014/main" id="{0F6B3ECB-A509-6DD5-AD07-54FD219A3291}"/>
              </a:ext>
            </a:extLst>
          </p:cNvPr>
          <p:cNvSpPr/>
          <p:nvPr/>
        </p:nvSpPr>
        <p:spPr>
          <a:xfrm>
            <a:off x="3184702" y="512588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Kulinaria/Lifestyle</a:t>
            </a:r>
            <a:endParaRPr lang="en-US" sz="950" dirty="0"/>
          </a:p>
        </p:txBody>
      </p:sp>
      <p:sp>
        <p:nvSpPr>
          <p:cNvPr id="94" name="Text 57">
            <a:extLst>
              <a:ext uri="{FF2B5EF4-FFF2-40B4-BE49-F238E27FC236}">
                <a16:creationId xmlns:a16="http://schemas.microsoft.com/office/drawing/2014/main" id="{4D2FC0BB-7CEB-1B73-1F62-6B794098ADA5}"/>
              </a:ext>
            </a:extLst>
          </p:cNvPr>
          <p:cNvSpPr/>
          <p:nvPr/>
        </p:nvSpPr>
        <p:spPr>
          <a:xfrm>
            <a:off x="4455415" y="512588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510K</a:t>
            </a:r>
            <a:endParaRPr lang="en-US" sz="950" dirty="0"/>
          </a:p>
        </p:txBody>
      </p:sp>
      <p:sp>
        <p:nvSpPr>
          <p:cNvPr id="95" name="Text 58">
            <a:extLst>
              <a:ext uri="{FF2B5EF4-FFF2-40B4-BE49-F238E27FC236}">
                <a16:creationId xmlns:a16="http://schemas.microsoft.com/office/drawing/2014/main" id="{D8209CD5-CE8D-3200-5CB9-3B99FE307D9B}"/>
              </a:ext>
            </a:extLst>
          </p:cNvPr>
          <p:cNvSpPr/>
          <p:nvPr/>
        </p:nvSpPr>
        <p:spPr>
          <a:xfrm>
            <a:off x="5492496" y="512588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C421F9B-DA0D-1605-8EEA-8385467F258B}"/>
              </a:ext>
            </a:extLst>
          </p:cNvPr>
          <p:cNvSpPr/>
          <p:nvPr/>
        </p:nvSpPr>
        <p:spPr>
          <a:xfrm>
            <a:off x="1616506" y="5692814"/>
            <a:ext cx="833932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 SZACOWANY KOSZT:  do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potwierdzenia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(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negocjacja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stawek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indywidualnie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z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influencerami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)</a:t>
            </a:r>
          </a:p>
        </p:txBody>
      </p:sp>
      <p:sp>
        <p:nvSpPr>
          <p:cNvPr id="99" name="Shape 18">
            <a:extLst>
              <a:ext uri="{FF2B5EF4-FFF2-40B4-BE49-F238E27FC236}">
                <a16:creationId xmlns:a16="http://schemas.microsoft.com/office/drawing/2014/main" id="{A84BAC36-6673-F7AC-935A-A0C1C74FFFB6}"/>
              </a:ext>
            </a:extLst>
          </p:cNvPr>
          <p:cNvSpPr/>
          <p:nvPr/>
        </p:nvSpPr>
        <p:spPr>
          <a:xfrm>
            <a:off x="7303704" y="2748446"/>
            <a:ext cx="4190934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19">
            <a:extLst>
              <a:ext uri="{FF2B5EF4-FFF2-40B4-BE49-F238E27FC236}">
                <a16:creationId xmlns:a16="http://schemas.microsoft.com/office/drawing/2014/main" id="{334DF07A-717D-329E-7EA7-A951FA65831E}"/>
              </a:ext>
            </a:extLst>
          </p:cNvPr>
          <p:cNvSpPr/>
          <p:nvPr/>
        </p:nvSpPr>
        <p:spPr>
          <a:xfrm>
            <a:off x="7303704" y="2748446"/>
            <a:ext cx="45720" cy="2688336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20">
            <a:extLst>
              <a:ext uri="{FF2B5EF4-FFF2-40B4-BE49-F238E27FC236}">
                <a16:creationId xmlns:a16="http://schemas.microsoft.com/office/drawing/2014/main" id="{CB2F91CE-42EB-67E1-BB41-577FFED5AEA0}"/>
              </a:ext>
            </a:extLst>
          </p:cNvPr>
          <p:cNvSpPr/>
          <p:nvPr/>
        </p:nvSpPr>
        <p:spPr>
          <a:xfrm>
            <a:off x="7486584" y="285817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29 dBA</a:t>
            </a:r>
            <a:endParaRPr lang="en-US" sz="1400" dirty="0"/>
          </a:p>
        </p:txBody>
      </p:sp>
      <p:sp>
        <p:nvSpPr>
          <p:cNvPr id="102" name="Text 21">
            <a:extLst>
              <a:ext uri="{FF2B5EF4-FFF2-40B4-BE49-F238E27FC236}">
                <a16:creationId xmlns:a16="http://schemas.microsoft.com/office/drawing/2014/main" id="{1140E2B3-1BE0-E1D3-9DFD-41F58BB4A8CD}"/>
              </a:ext>
            </a:extLst>
          </p:cNvPr>
          <p:cNvSpPr/>
          <p:nvPr/>
        </p:nvSpPr>
        <p:spPr>
          <a:xfrm>
            <a:off x="7486584" y="311420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influencerów dociera do mobilnej budki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trasie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testuje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hałasu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domu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102E8EFE-4314-8F5D-D2EE-4B44BC0D70E0}"/>
              </a:ext>
            </a:extLst>
          </p:cNvPr>
          <p:cNvSpPr/>
          <p:nvPr/>
        </p:nvSpPr>
        <p:spPr>
          <a:xfrm>
            <a:off x="7486584" y="360798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WIDEO:</a:t>
            </a:r>
            <a:endParaRPr lang="en-US" sz="850" dirty="0"/>
          </a:p>
        </p:txBody>
      </p:sp>
      <p:sp>
        <p:nvSpPr>
          <p:cNvPr id="104" name="Shape 23">
            <a:extLst>
              <a:ext uri="{FF2B5EF4-FFF2-40B4-BE49-F238E27FC236}">
                <a16:creationId xmlns:a16="http://schemas.microsoft.com/office/drawing/2014/main" id="{946974B7-3264-8E2A-327B-5F02F45DD0D8}"/>
              </a:ext>
            </a:extLst>
          </p:cNvPr>
          <p:cNvSpPr/>
          <p:nvPr/>
        </p:nvSpPr>
        <p:spPr>
          <a:xfrm>
            <a:off x="7523160" y="3900590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D7D4BF12-0613-DE70-C56E-5000344BD626}"/>
              </a:ext>
            </a:extLst>
          </p:cNvPr>
          <p:cNvSpPr/>
          <p:nvPr/>
        </p:nvSpPr>
        <p:spPr>
          <a:xfrm>
            <a:off x="7687752" y="378266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 na pianinie (norm. 60-70 dB) – niemożliwe</a:t>
            </a:r>
            <a:endParaRPr lang="en-US" sz="1100" dirty="0"/>
          </a:p>
        </p:txBody>
      </p:sp>
      <p:sp>
        <p:nvSpPr>
          <p:cNvPr id="106" name="Shape 25">
            <a:extLst>
              <a:ext uri="{FF2B5EF4-FFF2-40B4-BE49-F238E27FC236}">
                <a16:creationId xmlns:a16="http://schemas.microsoft.com/office/drawing/2014/main" id="{9AA6DB96-5E37-94FE-477F-ACA26350AB05}"/>
              </a:ext>
            </a:extLst>
          </p:cNvPr>
          <p:cNvSpPr/>
          <p:nvPr/>
        </p:nvSpPr>
        <p:spPr>
          <a:xfrm>
            <a:off x="7523160" y="4196348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26">
            <a:extLst>
              <a:ext uri="{FF2B5EF4-FFF2-40B4-BE49-F238E27FC236}">
                <a16:creationId xmlns:a16="http://schemas.microsoft.com/office/drawing/2014/main" id="{760FFC54-5F04-DB27-FE14-B6E1907F3451}"/>
              </a:ext>
            </a:extLst>
          </p:cNvPr>
          <p:cNvSpPr/>
          <p:nvPr/>
        </p:nvSpPr>
        <p:spPr>
          <a:xfrm>
            <a:off x="7687752" y="407842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Szepcze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przewraca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strony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szelest głośniejszy</a:t>
            </a:r>
            <a:endParaRPr lang="en-US" sz="1100" dirty="0"/>
          </a:p>
        </p:txBody>
      </p:sp>
      <p:sp>
        <p:nvSpPr>
          <p:cNvPr id="108" name="Shape 27">
            <a:extLst>
              <a:ext uri="{FF2B5EF4-FFF2-40B4-BE49-F238E27FC236}">
                <a16:creationId xmlns:a16="http://schemas.microsoft.com/office/drawing/2014/main" id="{4C71564E-7072-ACB5-EE99-823A5163F3EC}"/>
              </a:ext>
            </a:extLst>
          </p:cNvPr>
          <p:cNvSpPr/>
          <p:nvPr/>
        </p:nvSpPr>
        <p:spPr>
          <a:xfrm>
            <a:off x="7523160" y="4492106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28">
            <a:extLst>
              <a:ext uri="{FF2B5EF4-FFF2-40B4-BE49-F238E27FC236}">
                <a16:creationId xmlns:a16="http://schemas.microsoft.com/office/drawing/2014/main" id="{EFC196BD-0F19-84D4-65B7-22170F0DC8AB}"/>
              </a:ext>
            </a:extLst>
          </p:cNvPr>
          <p:cNvSpPr/>
          <p:nvPr/>
        </p:nvSpPr>
        <p:spPr>
          <a:xfrm>
            <a:off x="7687752" y="437418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 i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medytacja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oddech ~32dB. Blisko, ale nie 29.</a:t>
            </a:r>
            <a:endParaRPr lang="en-US" sz="1100" dirty="0"/>
          </a:p>
        </p:txBody>
      </p:sp>
      <p:sp>
        <p:nvSpPr>
          <p:cNvPr id="110" name="Shape 29">
            <a:extLst>
              <a:ext uri="{FF2B5EF4-FFF2-40B4-BE49-F238E27FC236}">
                <a16:creationId xmlns:a16="http://schemas.microsoft.com/office/drawing/2014/main" id="{BFB8AC48-BE3E-CE53-0C7B-44ED19514906}"/>
              </a:ext>
            </a:extLst>
          </p:cNvPr>
          <p:cNvSpPr/>
          <p:nvPr/>
        </p:nvSpPr>
        <p:spPr>
          <a:xfrm>
            <a:off x="7523160" y="4787864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Text 30">
            <a:extLst>
              <a:ext uri="{FF2B5EF4-FFF2-40B4-BE49-F238E27FC236}">
                <a16:creationId xmlns:a16="http://schemas.microsoft.com/office/drawing/2014/main" id="{EDD8F37A-4443-DE30-DFC0-0CFAF1893F5D}"/>
              </a:ext>
            </a:extLst>
          </p:cNvPr>
          <p:cNvSpPr/>
          <p:nvPr/>
        </p:nvSpPr>
        <p:spPr>
          <a:xfrm>
            <a:off x="7687752" y="46699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Skrzypce z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filcem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komiczny wynik</a:t>
            </a:r>
            <a:endParaRPr lang="en-US" sz="1100" dirty="0"/>
          </a:p>
        </p:txBody>
      </p:sp>
      <p:sp>
        <p:nvSpPr>
          <p:cNvPr id="112" name="Shape 31">
            <a:extLst>
              <a:ext uri="{FF2B5EF4-FFF2-40B4-BE49-F238E27FC236}">
                <a16:creationId xmlns:a16="http://schemas.microsoft.com/office/drawing/2014/main" id="{DC869B75-F555-C8C4-E819-CEC27DC1007E}"/>
              </a:ext>
            </a:extLst>
          </p:cNvPr>
          <p:cNvSpPr/>
          <p:nvPr/>
        </p:nvSpPr>
        <p:spPr>
          <a:xfrm>
            <a:off x="7523160" y="5079218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Text 32">
            <a:extLst>
              <a:ext uri="{FF2B5EF4-FFF2-40B4-BE49-F238E27FC236}">
                <a16:creationId xmlns:a16="http://schemas.microsoft.com/office/drawing/2014/main" id="{C2067505-B023-6025-3B80-6E8F16613251}"/>
              </a:ext>
            </a:extLst>
          </p:cNvPr>
          <p:cNvSpPr/>
          <p:nvPr/>
        </p:nvSpPr>
        <p:spPr>
          <a:xfrm>
            <a:off x="7687752" y="496129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Udaje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chrapie. Lodówka wygrywa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1172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pic>
        <p:nvPicPr>
          <p:cNvPr id="4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0040"/>
            <a:ext cx="868680" cy="8595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697480"/>
            <a:ext cx="155448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86384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STRATEGIA MEDIOWA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82296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 dotarcia  ·  scenariusze budżetowe  ·  KPI  ·  rozbicie kosztów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Zasięg aktywacji – Budka Ciszy w Arkadii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SZACOWANY ZASIĘG EKSPOZYCJI (2 TYGODNIE)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 tys.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801368" y="236738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odwiedzających Arkadię tygodniowo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60520" y="181051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70248" y="190195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~300 tys.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70248" y="236738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unikalnych widzów ekspozycji w 2 tygodnie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691640" y="290779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801368" y="299923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120–150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801368" y="346466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osób dziennie doświadcza wnętrza budki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60520" y="290779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70248" y="299923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1,5–2,1 tys.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270248" y="346466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pełnych doświadczeń ciszy (3–5 min) </a:t>
            </a:r>
            <a:b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2 tyg.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691640" y="40416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Arkadia: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największe centrum handlowe w Polsce, prestiżowa lokalizacja premium, pełna kontrola doświadczenia i maksymalna liczba kontaktów z marką w jednym </a:t>
            </a:r>
            <a:r>
              <a:rPr lang="en-US" sz="1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miejscu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dokładnie tam, gdzie zapadają decyzje zakupowe AGD.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03720" y="1481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JAKO SILNIK CAŁEJ KAMPANII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903720" y="1810512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68312" y="1883664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autentyczne reakcje odwiedzających to gotowy materiał do filmów wiralowych i kanałów social (found footage).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903720" y="2852928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68312" y="2926080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budka jest miejscem </a:t>
            </a:r>
            <a:r>
              <a:rPr lang="en-US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publikacji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twórców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jedna lokalizacja, wszystkie kanały.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903720" y="3895344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068312" y="3968496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REMARKETING: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osób po kontakcie z aktywacją i reklamami </a:t>
            </a:r>
            <a:r>
              <a:rPr lang="en-US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wracamy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Meta i GDN, domykając ścieżkę zakupową.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691640" y="5074920"/>
            <a:ext cx="9692640" cy="914400"/>
          </a:xfrm>
          <a:prstGeom prst="roundRect">
            <a:avLst>
              <a:gd name="adj" fmla="val 6000"/>
            </a:avLst>
          </a:prstGeom>
          <a:solidFill>
            <a:srgbClr val="FFF3C6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874520" y="51663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ZASADA KAMPANII:  </a:t>
            </a: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aktywacja w Arkadii buduje głębokie doświadczenie marki, a media digital nadają jej skalę ogólnopolską – każda złotówka wydana na budkę pracuje drugi raz w kanałach online.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Kanały dotarcia – ekosystem digital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EKOSYSTEM GOOGLE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56232" y="1956816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9" name="Image 2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06654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41448" y="1956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Search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856232" y="2523744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Docieramy do osób aktywnie szukających cichej lodówki – najwyższa intencja zakupowa, kampania performance domykająca sprzedaż.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1691640" y="3310128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56232" y="3456432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14" name="Image 3" descr="icon_yout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56616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441448" y="3456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856232" y="402336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Spoty 6″ (bumper) i 15″ budujące zasięg wideo i zapamiętanie przekazu „29 dBA” w skali ogólnopolskiej.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1691640" y="4809744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856232" y="4956048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19" name="Image 4" descr="icon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506577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41448" y="49560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Display Network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856232" y="552297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Banery na portalach i serwisach wnętrzarskich + remarketing – najtańszy koszt tysiąca kontaktów, domyka ścieżkę klienta.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667512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675120" y="1810512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839712" y="1956816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25" name="Image 5" descr="icon_face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06654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24928" y="1956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Facebook + Instagram (Meta)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839712" y="2523744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Precyzyjne targetowanie: demografia, zainteresowania (dom, wnętrza, AGD), geotargeting Warszawy. Formaty Reels, Stories, karuzele.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675120" y="3310128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839712" y="3456432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30" name="Image 6" descr="icon_tikt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566160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24928" y="3456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839712" y="402336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#29dBA i filmy wiralowe – budowa zasięgu w młodszej grupie i potencjał organicznego viralu wokół Budki Ciszy.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675120" y="4809744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839712" y="4956048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35" name="Image 7" descr="icon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065776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424928" y="49560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Pomiar i optymalizacja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6839712" y="552297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kanały raportowane w czasie rzeczywistym – budżet przenosimy w trakcie kampanii do formatów o najlepszych wynikach.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Założenia mediowe – benchmarki rynkowe (Polska)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28163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zakupu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rynkowy PL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Nasze założenie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 w kampanii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(Facebook + Instagram)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8–14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5,50–7,00 zł*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zasięg + geotargeting Warszawy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młodsza grupa, challenge #29dBA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(bumper + 15″)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10–16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14,00–14,50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wideo, zapamiętanie przekazu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GDN + remarketing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 zł (CPC 0,35 zł)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skala, domknięcie ścieżki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1,20–1,50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intencja zakupowa,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kampanii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1,2–1,8%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założenie do prognozy kliknięć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1691640" y="4892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Skąd te stawki: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mediany stawek kampanii zasięgowych AGD / dom i wnętrze w Polsce (2025–2026). Rynek polski jest 40–60% tańszy od średnich globalnych (globalny CPM: Meta ~8 USD, TikTok ~5 USD, YouTube ~5 USD), co czyni zakładane koszty dotarcia realistycznymi i możliwymi do obrony w realizacji.  *Disclaimer – Meta: stawka przyjęta poniżej dolnej granicy benchmarku (8–14 zł); zakłada szerokie grupy zasięgowe i formaty Reels. W szczycie Q4 (Black Friday) CPM Meta może wzrosnąć – wówczas realokujemy budżet na bieżąco do tańszych kanałów (TikTok, GDN), chroniąc łączny wolumen odsłon.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691640" y="56235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prognozy KPI w kolejnych slajdach wynikają wprost z tych stawek – </a:t>
            </a: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÷ stawka = liczba kontaktów.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– scenariusz 200 000 zł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– 100 000 zł  (zasięgowa 80 tys. + performance 20 tys.)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12,8 mln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80136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odsłon reklam (Meta, TikTok, YouTube, GDN)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2452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3,85 mln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2452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– unikalni odbiorcy kampanii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53796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4768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~3,3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4768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liczba kontaktów z reklamą / osobę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6112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7084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15,4 tys.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07084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kliknięć do stron produktowych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691640" y="2944368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01368" y="3035808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0,026 zł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801368" y="3527755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dotarcia do 1 osoby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114800" y="301752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 scenariusza: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częstotliwość ~3 kontaktów miesięcznie to minimum zauważalności – kampania zbuduje świadomość akcji w Warszawie, ale nie zapewni ogólnopolskiej obecności marki.</a:t>
            </a:r>
            <a:endParaRPr lang="en-US" sz="100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A285B871-15D5-9505-BF10-1E81DDB20BC6}"/>
              </a:ext>
            </a:extLst>
          </p:cNvPr>
          <p:cNvSpPr/>
          <p:nvPr/>
        </p:nvSpPr>
        <p:spPr>
          <a:xfrm>
            <a:off x="6675120" y="438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– 50 000 zł</a:t>
            </a:r>
            <a:endParaRPr lang="en-US" sz="105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63322518-D9DC-A382-9E69-38C5A384B727}"/>
              </a:ext>
            </a:extLst>
          </p:cNvPr>
          <p:cNvSpPr/>
          <p:nvPr/>
        </p:nvSpPr>
        <p:spPr>
          <a:xfrm>
            <a:off x="6675120" y="4688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 w mediach dopasowanych do grupy docelowej  ·  bieżąca obsługa media relations i zapytań dziennikarzy  ·  dystrybucja materiałów prasowych  ·  monitoring mediów i raportowanie</a:t>
            </a:r>
            <a:endParaRPr lang="en-US" sz="10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2FB12356-F4BB-0334-0379-B391E45C9568}"/>
              </a:ext>
            </a:extLst>
          </p:cNvPr>
          <p:cNvSpPr/>
          <p:nvPr/>
        </p:nvSpPr>
        <p:spPr>
          <a:xfrm>
            <a:off x="1694688" y="438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– 50 000 zł</a:t>
            </a:r>
            <a:endParaRPr lang="en-US" sz="105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A8A84E3A-23C5-903D-F2A8-989D8ADFC305}"/>
              </a:ext>
            </a:extLst>
          </p:cNvPr>
          <p:cNvSpPr/>
          <p:nvPr/>
        </p:nvSpPr>
        <p:spPr>
          <a:xfrm>
            <a:off x="1694688" y="4688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twórców o zasięgu 100 tys.+ obserwujących  ·  po 1 publikacji Instagram + 1 publikacji YouTube  ·  płatna amplifikacja treści twórców rozszerzająca zasięg poza obserwujących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– scenariusz rekomendowany 500 000 zł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– 300 000 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zł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(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zasięgowa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245 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tys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 + performance 55 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tys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41,6 mln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80136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odsłon reklam we wszystkich kanałach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2452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5,2 mln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22452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– unikalni odbiorcy (co 6. dorosły internauta w PL)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53796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4768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~8,1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64768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liczba kontaktów z przekazem / osobę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6112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7084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71,5 tys.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907084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kliknięć łącznie – w tym 15,9 tys. jakościowych (Search + Meta)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69164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0136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0,046 zł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180136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dotarcia do 1 osoby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11480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2452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0,94 zł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22452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 koszt kliknięcia (CPC) w kampanii performance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53796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4768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0,92%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64768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kampanii performance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96112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7084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tyg.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907084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ciągła: X–XI 2026, szczyt przed Black Friday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69164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– 150 000 zł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691640" y="46817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twórców 250 tys.+ (Instagram / YouTube) – publikacje wraz ze Stories  ·  płatna amplifikacja każdej publikacji  ·  prognozowany zasięg społecznościowy: 1,2–1,8 mln odbiorców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67512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– 50 000 zł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675120" y="46817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  ·  media relations + briefing prasowy  ·  monitoring i raportowanie  ·  prognozowany zasięg publikacji: 2–3 mln kontaktów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300 000 zł – szczegółowe rozbicie kosztów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20040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Budżet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Stawka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Prognozowany efekt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Zadanie w kampanii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– Facebook + Instagram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5,50–7,00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21,8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zasięg ogólnopolski + geotargeting Warszawy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5,50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#29dBA, młodsza grupa docelowa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(bumper 6″ + 15″)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14 zł · CPV 0,04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wideo – budowa zapamiętania przekazu 29 dBA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GDN + remarketing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 0,35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 mln odsłon · 42,9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tania skala + powrót do osób po kontakcie z marką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(performance)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 1,65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intencja zakupowa – ruch do stron produktowych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 mln odsłon  ·  71,5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1691640" y="5074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 jakościowy – 15,9 tys. kliknięć: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(7,5 tys.) + Meta performance (8,4 tys.) – kliknięcia z realną intencją zakupową, którymi mierzymy efekt sprzedażowy. Pozostałe 55,6 tys. (GDN + formaty zasięgowe) buduje skalę i zasila remarketing. Łącznie: 71,5 tys. przejść do stron produktowych.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691640" y="5486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mediowy nie zawiera: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kosztów produkcji budki, filmów i akcji CSR – pełne zestawienie kampanii na slajdach „Podsumowanie kosztów”.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Rekomendacja – 500 000 zł na media: podział budżetu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554480" y="1828800"/>
          <a:ext cx="4023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2"/>
          <p:cNvSpPr/>
          <p:nvPr/>
        </p:nvSpPr>
        <p:spPr>
          <a:xfrm>
            <a:off x="5943600" y="169164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108192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300 000 zł  ·  60%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108192" y="213055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Meta, TikTok, YouTube i GDN ze wzmocnieniem w Warszawie wokół aktywacji w Arkadii, uzupełniona o performance (Google Search) i remarketing domykający ścieżkę zakupową.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943600" y="324612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108192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150 000 zł  ·  30%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108192" y="368503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na Instagramie i YouTube (Reels, Stories, Shorts) – 4–6 twórców 250 tys.+ obserwujących dobranych pod grupę docelową, z płatną amplifikacją publikacji.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943600" y="480060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108192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50 000 zł  ·  10%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08192" y="523951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sponsorowanych, media relations, dystrybucja materiałów prasowych, wsparcie briefingu prasowego, monitoring i raportowanie.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691640" y="6245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podziału: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budżetu pracuje w kanałach o największej zdolności budowania skali; wzmocnieni influencerzy (30%) i PR dodają wiarygodność i zaangażowanie wokół Budki Ciszy.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Scenariusze budżetu mediowego – porównanie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4381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200 000 zł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500 000 zł  ·  REKOMENDACJA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1 000 000 zł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Kampania digital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Działania 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Odsłony reklam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66,2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Kliknięcia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71,5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72,4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Artykuły sponsorowane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Twórcy (zasięg konta)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(100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 (250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(350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1691640" y="5303520"/>
            <a:ext cx="9692640" cy="1051560"/>
          </a:xfrm>
          <a:prstGeom prst="roundRect">
            <a:avLst>
              <a:gd name="adj" fmla="val 5217"/>
            </a:avLst>
          </a:prstGeom>
          <a:solidFill>
            <a:srgbClr val="FFF3C6">
              <a:alpha val="45000"/>
            </a:srgbClr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874520" y="53949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Dlaczego 500 000 zł: </a:t>
            </a: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najniższy budżet, przy którym kampania osiąga skalę ogólnopolską (zasięg ~5,2 mln osób, częstotliwość ~8) równolegle ze wsparciem aktywacji w Arkadii. Wariant 200 tys. zł ogranicza częstotliwość do ~3 kontaktów – poniżej progu zapamiętania przekazu premium.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Podsumowanie kosztów – media 500 000 zł · rekomendacja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79218"/>
              </p:ext>
            </p:extLst>
          </p:nvPr>
        </p:nvGraphicFramePr>
        <p:xfrm>
          <a:off x="1691640" y="1257300"/>
          <a:ext cx="9692640" cy="2788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Kategoria prac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netto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BUDKA CISZY – NAJEM, BUDOWA I WYPOSAŻENIE + FEE AGENCYJNE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340 600 zł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najem powierzchni Theatrum w Arkadii, 2 tyg. (210 tys.)  ·  budowa dźwiękoszczelnej budki (75 tys.)  ·  meble i aranżacja wnętrza (11 tys.)  ·  fee agencyjne 10% od kosztów zewnętrznych (44,6 tys.)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WRAZ Z FEE MEDIOWYM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545 000 zł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kampania digital: Meta, TikTok, YouTube, GDN, Google Search (300 tys.)  ·  influencerzy: 4–6 twórców 250 tys.+ (150 tys.)  ·  działania PR (50 tys.)  ·  fee mediowe 15% od budżetu digital (45 tys.)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I OBSŁUGA AGENCJI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123 100 zł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+ formaty: kampania, teaser, sprzedaż (25 tys.)  ·  spot AI (40 tys.)  ·  animacje i rolki (12 tys.)  ·  obsługa agencji, 15 tyg. (37,5 tys.)  ·  landing page (6,6 tys.)  ·  content (2 tys.)</a:t>
                      </a:r>
                      <a:endParaRPr lang="en-US" sz="900" dirty="0">
                        <a:solidFill>
                          <a:srgbClr val="4D4D4D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1 008 700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691639" y="4709160"/>
            <a:ext cx="9692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Legenda: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 kategorii odpowiadają wierszom w szczegółowym zestawieniu kosztów: czerwony – infrastruktura Budki Ciszy z fee agencyjnym 10% od kosztów zewnętrznych (najem powierzchni, budowa i wyposażenie budki, wynagrodzenia influencerów); zielony – media z fee mediowym 15% od budżetu digital; czarny – kreacja i obsługa agencji.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Podsumowanie kosztów akcji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867525"/>
              </p:ext>
            </p:extLst>
          </p:nvPr>
        </p:nvGraphicFramePr>
        <p:xfrm>
          <a:off x="1691640" y="1257300"/>
          <a:ext cx="9692640" cy="45262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Pozycja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netto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Najem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powierzchni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– 2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tygodnie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210 000 zł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l-PL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powierzchnia Theatrum przy wejściu głównym Arkadii, 26.10–7.11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721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Budowa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budki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75 000 zł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l-PL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dźwiękoszczelna konstrukcja 2260 x 1920 x 2050 mm, montaż i demontaż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1327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Meble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aranżacji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11 000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fotel, regał z książkami, stolik kawowy, lampka, dekoracje wnętrza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kampania digital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Meta, TikTok, YouTube, GDN, Google Search – podział jak w prezentacji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influencerzy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twórców 250 tys.+, publikacje z płatną amplifikacją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działania PR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artykułów sponsorowanych, media relations, briefing prasowy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mediowe – 15% budżetu digital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setup, prowadzenie i optymalizacja kampanii, raportowanie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 do kampanii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visual + adaptacje do formatów digital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produkcja spotu AI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 wizerunkowy kampanii (produkcja AI)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formaty: teaser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 I: teaser (19–25.10)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formaty: sprzedaż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 III: sprzedaż (8–29.11)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produkcja animacji: teaser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animacja do etapu teaserowego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rolki i animacje: sprzedaż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produkcja rolek i animacji do etapu sprzedażowego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Obsługa agencji – koordynacja akcji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37 500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podwykonawcy itd.: 6 tyg. przygotowań + 6 tyg. akcji + 3 tyg. po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6 600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strona docelowa kampanii z pomiarem konwersji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treści na landing page i do kanałów kampanii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agencyjne – 10% kosztów zewnętrznych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44 600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najem powierzchni, budowa i wyposażenie budki, wynagrodzenia influencerów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1 008 700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691639" y="6223700"/>
            <a:ext cx="9692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Zasady rozliczenia: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agencyjne 10% naliczamy od kosztów zewnętrznych: najmu powierzchni, budowy i wyposażenia budki oraz wynagrodzeń influencerów (fee mediowe ujęte przy mediach). Zestawienie nie obejmuje obsługi hostess, filmów wiralowych i akcji CSR – te pozycje wyceniamy odrębnie.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BFFE-0DA6-42FF-2454-EA501BE0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4817443B-0471-D998-25B2-2CAC2F63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5CA3BE24-F0B1-A051-6D7D-07BF8C8CB7A7}"/>
              </a:ext>
            </a:extLst>
          </p:cNvPr>
          <p:cNvSpPr/>
          <p:nvPr/>
        </p:nvSpPr>
        <p:spPr>
          <a:xfrm>
            <a:off x="457199" y="3043484"/>
            <a:ext cx="1087684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Dziękujemy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9C0A053-1C0B-8635-85A5-042ED448B96F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Google Shape;545;p58">
            <a:extLst>
              <a:ext uri="{FF2B5EF4-FFF2-40B4-BE49-F238E27FC236}">
                <a16:creationId xmlns:a16="http://schemas.microsoft.com/office/drawing/2014/main" id="{1D8997B7-EB5B-DAE1-2764-FF0FB030C989}"/>
              </a:ext>
            </a:extLst>
          </p:cNvPr>
          <p:cNvSpPr txBox="1"/>
          <p:nvPr/>
        </p:nvSpPr>
        <p:spPr>
          <a:xfrm>
            <a:off x="376843" y="4465376"/>
            <a:ext cx="2967595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Marek Dolewski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tel. 604 484748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marek.dolewski@agencjakotwbutach.pl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" name="Google Shape;549;p58">
            <a:extLst>
              <a:ext uri="{FF2B5EF4-FFF2-40B4-BE49-F238E27FC236}">
                <a16:creationId xmlns:a16="http://schemas.microsoft.com/office/drawing/2014/main" id="{ACCD392B-5781-9429-70F6-32083DADFAE4}"/>
              </a:ext>
            </a:extLst>
          </p:cNvPr>
          <p:cNvSpPr txBox="1"/>
          <p:nvPr/>
        </p:nvSpPr>
        <p:spPr>
          <a:xfrm>
            <a:off x="376843" y="5323488"/>
            <a:ext cx="270313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Piotr Zawałło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tel. 509 149 192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lvl="0">
              <a:lnSpc>
                <a:spcPct val="115000"/>
              </a:lnSpc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piotr.zawallo@ agencjakotwbutach.pl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D419398-0BD8-C6F8-4B86-753C72462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22"/>
            <a:ext cx="1405914" cy="1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53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Podsumowanie kosztów – media 200 000 zł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79218"/>
              </p:ext>
            </p:extLst>
          </p:nvPr>
        </p:nvGraphicFramePr>
        <p:xfrm>
          <a:off x="1691640" y="1257300"/>
          <a:ext cx="9692640" cy="2788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Kategoria prac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netto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BUDKA CISZY – NAJEM, BUDOWA I WYPOSAŻENIE + FEE AGENCYJNE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330 600 zł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najem powierzchni Theatrum w Arkadii, 2 tyg. (210 tys.)  ·  budowa dźwiękoszczelnej budki (75 tys.)  ·  meble i aranżacja wnętrza (11 tys.)  ·  fee agencyjne 10% od kosztów zewnętrznych (34,6 tys.)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WRAZ Z FEE MEDIOWYM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215 000 zł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kampania digital: Meta, TikTok, YouTube, GDN, Google Search (100 tys.)  ·  influencerzy: 2 twórców 100 tys.+ (50 tys.)  ·  działania PR (50 tys.)  ·  fee mediowe 15% od budżetu digital (15 tys.)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I OBSŁUGA AGENCJI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123 100 zł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+ formaty: kampania, teaser, sprzedaż (25 tys.)  ·  spot AI (40 tys.)  ·  animacje i rolki (12 tys.)  ·  obsługa agencji, 15 tyg. (37,5 tys.)  ·  landing page (6,6 tys.)  ·  content (2 tys.)</a:t>
                      </a:r>
                      <a:endParaRPr lang="en-US" sz="900" dirty="0">
                        <a:solidFill>
                          <a:srgbClr val="4D4D4D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668 700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691639" y="4709160"/>
            <a:ext cx="9692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Uwaga: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ograniczony – media 200 tys. zł (digital 100 tys., influencerzy 50 tys., PR 50 tys.) dają ~12,8 mln odsłon przy częstotliwości ~3 kontaktów na osobę, poniżej progu zapamiętania przekazu premium (por. scenariusze budżetu mediowego). Koszty budki, kreacji i obsługi pozostają bez zmian; fee agencyjne 10% naliczane od tej samej podstawy kosztów zewnętrznych, z niższym wynagrodzeniem influencerów.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3212</Words>
  <Application>Microsoft Macintosh PowerPoint</Application>
  <PresentationFormat>Widescreen</PresentationFormat>
  <Paragraphs>448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Arial Black</vt:lpstr>
      <vt:lpstr>Calibri</vt:lpstr>
      <vt:lpstr>Lato Light</vt:lpstr>
      <vt:lpstr>Motyw pakietu Office</vt:lpstr>
      <vt:lpstr>CISZA, KTÓRA SPRZEDAJE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Marek Dolewski</cp:lastModifiedBy>
  <cp:revision>31</cp:revision>
  <dcterms:created xsi:type="dcterms:W3CDTF">2026-03-04T15:44:43Z</dcterms:created>
  <dcterms:modified xsi:type="dcterms:W3CDTF">2026-08-16T11:25:50Z</dcterms:modified>
</cp:coreProperties>
</file>